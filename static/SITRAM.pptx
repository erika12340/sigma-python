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27"/>
  </p:notesMasterIdLst>
  <p:sldIdLst>
    <p:sldId id="256" r:id="rId2"/>
    <p:sldId id="315" r:id="rId3"/>
    <p:sldId id="275" r:id="rId4"/>
    <p:sldId id="328" r:id="rId5"/>
    <p:sldId id="329" r:id="rId6"/>
    <p:sldId id="332" r:id="rId7"/>
    <p:sldId id="340" r:id="rId8"/>
    <p:sldId id="333" r:id="rId9"/>
    <p:sldId id="334" r:id="rId10"/>
    <p:sldId id="342" r:id="rId11"/>
    <p:sldId id="335" r:id="rId12"/>
    <p:sldId id="336" r:id="rId13"/>
    <p:sldId id="344" r:id="rId14"/>
    <p:sldId id="339" r:id="rId15"/>
    <p:sldId id="337" r:id="rId16"/>
    <p:sldId id="349" r:id="rId17"/>
    <p:sldId id="341" r:id="rId18"/>
    <p:sldId id="348" r:id="rId19"/>
    <p:sldId id="350" r:id="rId20"/>
    <p:sldId id="347" r:id="rId21"/>
    <p:sldId id="338" r:id="rId22"/>
    <p:sldId id="354" r:id="rId23"/>
    <p:sldId id="352" r:id="rId24"/>
    <p:sldId id="351" r:id="rId25"/>
    <p:sldId id="355" r:id="rId26"/>
  </p:sldIdLst>
  <p:sldSz cx="9144000" cy="5143500" type="screen16x9"/>
  <p:notesSz cx="6858000" cy="9144000"/>
  <p:embeddedFontLst>
    <p:embeddedFont>
      <p:font typeface="Archivo" panose="020B0604020202020204" charset="0"/>
      <p:regular r:id="rId28"/>
      <p:bold r:id="rId29"/>
      <p:italic r:id="rId30"/>
      <p:boldItalic r:id="rId31"/>
    </p:embeddedFont>
    <p:embeddedFont>
      <p:font typeface="HGPSoeiKakugothicUB" panose="020B0A00000000000000" pitchFamily="34" charset="-128"/>
      <p:regular r:id="rId32"/>
    </p:embeddedFont>
    <p:embeddedFont>
      <p:font typeface="IBM Plex Mono" panose="020B0509050203000203" pitchFamily="49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BCED8B-7CC2-48E6-9A6E-C85DA0EAFF4F}">
  <a:tblStyle styleId="{12BCED8B-7CC2-48E6-9A6E-C85DA0EAFF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316D6E0-FDEE-461C-97B1-DAF19C6D16D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Gaya Tema 1 - Akse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Gaya Medium 2 - Aks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Gaya Medium 2 - Akse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CAF9ED-07DC-4A11-8D7F-57B35C25682E}" styleName="Gaya Medium 1 - Akse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Gaya Tema 1 - Akse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Gaya Terang 2 - Akse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280" y="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AF8CD91E-C154-722E-B99E-22F625661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92581b7e23_0_108:notes">
            <a:extLst>
              <a:ext uri="{FF2B5EF4-FFF2-40B4-BE49-F238E27FC236}">
                <a16:creationId xmlns:a16="http://schemas.microsoft.com/office/drawing/2014/main" id="{2DA33B2D-26E9-C4FC-9951-1B00FB9942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92581b7e23_0_108:notes">
            <a:extLst>
              <a:ext uri="{FF2B5EF4-FFF2-40B4-BE49-F238E27FC236}">
                <a16:creationId xmlns:a16="http://schemas.microsoft.com/office/drawing/2014/main" id="{D61A138E-B009-8D14-9514-562783F4BB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3480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2b8f97649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2b8f97649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>
          <a:extLst>
            <a:ext uri="{FF2B5EF4-FFF2-40B4-BE49-F238E27FC236}">
              <a16:creationId xmlns:a16="http://schemas.microsoft.com/office/drawing/2014/main" id="{9CA59CD0-84C6-88F2-3489-2B29008EC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2b8f97649_1_119:notes">
            <a:extLst>
              <a:ext uri="{FF2B5EF4-FFF2-40B4-BE49-F238E27FC236}">
                <a16:creationId xmlns:a16="http://schemas.microsoft.com/office/drawing/2014/main" id="{1BCE6923-A4D4-98D4-4D87-19F70F12D2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2b8f97649_1_119:notes">
            <a:extLst>
              <a:ext uri="{FF2B5EF4-FFF2-40B4-BE49-F238E27FC236}">
                <a16:creationId xmlns:a16="http://schemas.microsoft.com/office/drawing/2014/main" id="{6B3CCD78-82FC-1C5F-6E5E-A8EB763BC1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8563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34F5B39A-B1DD-3C7A-A0A3-FC465A4F1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92581b7e23_0_108:notes">
            <a:extLst>
              <a:ext uri="{FF2B5EF4-FFF2-40B4-BE49-F238E27FC236}">
                <a16:creationId xmlns:a16="http://schemas.microsoft.com/office/drawing/2014/main" id="{B5D0CD12-280A-8AAF-9295-CB0C1B5DBB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92581b7e23_0_108:notes">
            <a:extLst>
              <a:ext uri="{FF2B5EF4-FFF2-40B4-BE49-F238E27FC236}">
                <a16:creationId xmlns:a16="http://schemas.microsoft.com/office/drawing/2014/main" id="{D5A098B0-BE04-DACF-93D3-7E505633F9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943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>
          <a:extLst>
            <a:ext uri="{FF2B5EF4-FFF2-40B4-BE49-F238E27FC236}">
              <a16:creationId xmlns:a16="http://schemas.microsoft.com/office/drawing/2014/main" id="{741B18EC-233C-5925-0C05-DE2DBE96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2b8f97649_1_119:notes">
            <a:extLst>
              <a:ext uri="{FF2B5EF4-FFF2-40B4-BE49-F238E27FC236}">
                <a16:creationId xmlns:a16="http://schemas.microsoft.com/office/drawing/2014/main" id="{CD99B657-EC9E-F7EF-A351-ED0EE95DBD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2b8f97649_1_119:notes">
            <a:extLst>
              <a:ext uri="{FF2B5EF4-FFF2-40B4-BE49-F238E27FC236}">
                <a16:creationId xmlns:a16="http://schemas.microsoft.com/office/drawing/2014/main" id="{48D84C28-3DFD-A0FD-BEDD-AB5E20781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264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>
          <a:extLst>
            <a:ext uri="{FF2B5EF4-FFF2-40B4-BE49-F238E27FC236}">
              <a16:creationId xmlns:a16="http://schemas.microsoft.com/office/drawing/2014/main" id="{2E8650B5-0554-C450-AD07-F9188C09E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2b8f97649_1_119:notes">
            <a:extLst>
              <a:ext uri="{FF2B5EF4-FFF2-40B4-BE49-F238E27FC236}">
                <a16:creationId xmlns:a16="http://schemas.microsoft.com/office/drawing/2014/main" id="{5B2B977A-D83E-553A-B22C-DFAF53517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2b8f97649_1_119:notes">
            <a:extLst>
              <a:ext uri="{FF2B5EF4-FFF2-40B4-BE49-F238E27FC236}">
                <a16:creationId xmlns:a16="http://schemas.microsoft.com/office/drawing/2014/main" id="{B307E1F3-7319-90E4-CD49-7AB3C18988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3422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06582B18-35BD-7353-3BE5-A9E510635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92581b7e23_0_108:notes">
            <a:extLst>
              <a:ext uri="{FF2B5EF4-FFF2-40B4-BE49-F238E27FC236}">
                <a16:creationId xmlns:a16="http://schemas.microsoft.com/office/drawing/2014/main" id="{053EB686-0113-809B-0B37-4DEDC66CBB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92581b7e23_0_108:notes">
            <a:extLst>
              <a:ext uri="{FF2B5EF4-FFF2-40B4-BE49-F238E27FC236}">
                <a16:creationId xmlns:a16="http://schemas.microsoft.com/office/drawing/2014/main" id="{D9C235E7-CA47-935D-ABA2-8CE2842F42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1172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>
          <a:extLst>
            <a:ext uri="{FF2B5EF4-FFF2-40B4-BE49-F238E27FC236}">
              <a16:creationId xmlns:a16="http://schemas.microsoft.com/office/drawing/2014/main" id="{43F122F2-94D5-681C-5EEB-B7299A7D2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2b8f97649_1_119:notes">
            <a:extLst>
              <a:ext uri="{FF2B5EF4-FFF2-40B4-BE49-F238E27FC236}">
                <a16:creationId xmlns:a16="http://schemas.microsoft.com/office/drawing/2014/main" id="{556FF04D-1E0F-4EA5-5CD9-256F71498B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2b8f97649_1_119:notes">
            <a:extLst>
              <a:ext uri="{FF2B5EF4-FFF2-40B4-BE49-F238E27FC236}">
                <a16:creationId xmlns:a16="http://schemas.microsoft.com/office/drawing/2014/main" id="{7A73235C-7DE5-5044-F552-3A13A0C2EA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5636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>
          <a:extLst>
            <a:ext uri="{FF2B5EF4-FFF2-40B4-BE49-F238E27FC236}">
              <a16:creationId xmlns:a16="http://schemas.microsoft.com/office/drawing/2014/main" id="{C15711CE-8DAC-56BD-0CBA-1279DA9A7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2b8f97649_1_119:notes">
            <a:extLst>
              <a:ext uri="{FF2B5EF4-FFF2-40B4-BE49-F238E27FC236}">
                <a16:creationId xmlns:a16="http://schemas.microsoft.com/office/drawing/2014/main" id="{25B84F85-F0B5-2DFE-BC14-AC241B2381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2b8f97649_1_119:notes">
            <a:extLst>
              <a:ext uri="{FF2B5EF4-FFF2-40B4-BE49-F238E27FC236}">
                <a16:creationId xmlns:a16="http://schemas.microsoft.com/office/drawing/2014/main" id="{AF57F9BC-EF03-27CA-C3B5-7D34EFAF2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0818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5DB9D6B7-4D79-6152-C16A-84F7AE53E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92581b7e23_0_108:notes">
            <a:extLst>
              <a:ext uri="{FF2B5EF4-FFF2-40B4-BE49-F238E27FC236}">
                <a16:creationId xmlns:a16="http://schemas.microsoft.com/office/drawing/2014/main" id="{61BA6EE6-E563-C7D0-7A1D-9C62F3923D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92581b7e23_0_108:notes">
            <a:extLst>
              <a:ext uri="{FF2B5EF4-FFF2-40B4-BE49-F238E27FC236}">
                <a16:creationId xmlns:a16="http://schemas.microsoft.com/office/drawing/2014/main" id="{7DC59B17-0889-1B3A-B8C3-7BD719D12B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7404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>
          <a:extLst>
            <a:ext uri="{FF2B5EF4-FFF2-40B4-BE49-F238E27FC236}">
              <a16:creationId xmlns:a16="http://schemas.microsoft.com/office/drawing/2014/main" id="{6F58D5B4-58A2-BD14-7A67-F9781BDD0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2b8f97649_1_119:notes">
            <a:extLst>
              <a:ext uri="{FF2B5EF4-FFF2-40B4-BE49-F238E27FC236}">
                <a16:creationId xmlns:a16="http://schemas.microsoft.com/office/drawing/2014/main" id="{BE0619AC-6D7A-E398-E1AA-E22AE15A77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2b8f97649_1_119:notes">
            <a:extLst>
              <a:ext uri="{FF2B5EF4-FFF2-40B4-BE49-F238E27FC236}">
                <a16:creationId xmlns:a16="http://schemas.microsoft.com/office/drawing/2014/main" id="{BB4E6B66-4259-2B03-6236-E922B002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69034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>
          <a:extLst>
            <a:ext uri="{FF2B5EF4-FFF2-40B4-BE49-F238E27FC236}">
              <a16:creationId xmlns:a16="http://schemas.microsoft.com/office/drawing/2014/main" id="{3FCDA002-6984-F7DB-B041-944101B00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2b8f97649_1_119:notes">
            <a:extLst>
              <a:ext uri="{FF2B5EF4-FFF2-40B4-BE49-F238E27FC236}">
                <a16:creationId xmlns:a16="http://schemas.microsoft.com/office/drawing/2014/main" id="{4CF4FC1D-90D1-1ED2-38CB-E486B12480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2b8f97649_1_119:notes">
            <a:extLst>
              <a:ext uri="{FF2B5EF4-FFF2-40B4-BE49-F238E27FC236}">
                <a16:creationId xmlns:a16="http://schemas.microsoft.com/office/drawing/2014/main" id="{E27D9C0A-34C6-1142-7BF4-4B2CC99D62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98697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F4D8710F-1080-DC14-2DB9-D3359812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92581b7e23_0_108:notes">
            <a:extLst>
              <a:ext uri="{FF2B5EF4-FFF2-40B4-BE49-F238E27FC236}">
                <a16:creationId xmlns:a16="http://schemas.microsoft.com/office/drawing/2014/main" id="{2B716CB2-0837-E75F-3037-E4B3D76330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92581b7e23_0_108:notes">
            <a:extLst>
              <a:ext uri="{FF2B5EF4-FFF2-40B4-BE49-F238E27FC236}">
                <a16:creationId xmlns:a16="http://schemas.microsoft.com/office/drawing/2014/main" id="{E8049E92-0491-2248-8794-31C1525098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53158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>
          <a:extLst>
            <a:ext uri="{FF2B5EF4-FFF2-40B4-BE49-F238E27FC236}">
              <a16:creationId xmlns:a16="http://schemas.microsoft.com/office/drawing/2014/main" id="{780150C4-502F-9E14-7F34-653072DE5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2b8f97649_1_119:notes">
            <a:extLst>
              <a:ext uri="{FF2B5EF4-FFF2-40B4-BE49-F238E27FC236}">
                <a16:creationId xmlns:a16="http://schemas.microsoft.com/office/drawing/2014/main" id="{86FCA9DF-9426-3A90-7B3A-0CA96058E5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2b8f97649_1_119:notes">
            <a:extLst>
              <a:ext uri="{FF2B5EF4-FFF2-40B4-BE49-F238E27FC236}">
                <a16:creationId xmlns:a16="http://schemas.microsoft.com/office/drawing/2014/main" id="{FED43216-C01E-6751-4EBB-D7B67F12A0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59436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>
          <a:extLst>
            <a:ext uri="{FF2B5EF4-FFF2-40B4-BE49-F238E27FC236}">
              <a16:creationId xmlns:a16="http://schemas.microsoft.com/office/drawing/2014/main" id="{7D06281A-552D-D6BE-7DD9-C597084F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2b8f97649_1_119:notes">
            <a:extLst>
              <a:ext uri="{FF2B5EF4-FFF2-40B4-BE49-F238E27FC236}">
                <a16:creationId xmlns:a16="http://schemas.microsoft.com/office/drawing/2014/main" id="{B0DD9142-0F37-7821-0336-1A5F220A61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2b8f97649_1_119:notes">
            <a:extLst>
              <a:ext uri="{FF2B5EF4-FFF2-40B4-BE49-F238E27FC236}">
                <a16:creationId xmlns:a16="http://schemas.microsoft.com/office/drawing/2014/main" id="{D25A4E0E-7505-4976-582A-8011CADB55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72435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75F0AAB0-E72A-DB59-7DEB-7F7CE782E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92581b7e23_0_108:notes">
            <a:extLst>
              <a:ext uri="{FF2B5EF4-FFF2-40B4-BE49-F238E27FC236}">
                <a16:creationId xmlns:a16="http://schemas.microsoft.com/office/drawing/2014/main" id="{45CC4619-1F16-3BB0-1850-374703BC80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92581b7e23_0_108:notes">
            <a:extLst>
              <a:ext uri="{FF2B5EF4-FFF2-40B4-BE49-F238E27FC236}">
                <a16:creationId xmlns:a16="http://schemas.microsoft.com/office/drawing/2014/main" id="{61D6292A-FAFC-5B21-3E17-D1B83130B7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43790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>
          <a:extLst>
            <a:ext uri="{FF2B5EF4-FFF2-40B4-BE49-F238E27FC236}">
              <a16:creationId xmlns:a16="http://schemas.microsoft.com/office/drawing/2014/main" id="{C1D2B052-7ADE-2B3A-E832-006928121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2b8f97649_1_119:notes">
            <a:extLst>
              <a:ext uri="{FF2B5EF4-FFF2-40B4-BE49-F238E27FC236}">
                <a16:creationId xmlns:a16="http://schemas.microsoft.com/office/drawing/2014/main" id="{178D76BF-AF6A-0D6E-223B-CC41C4E6FE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2b8f97649_1_119:notes">
            <a:extLst>
              <a:ext uri="{FF2B5EF4-FFF2-40B4-BE49-F238E27FC236}">
                <a16:creationId xmlns:a16="http://schemas.microsoft.com/office/drawing/2014/main" id="{16F5721F-47C4-469A-AF52-1CC0E9505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4407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>
          <a:extLst>
            <a:ext uri="{FF2B5EF4-FFF2-40B4-BE49-F238E27FC236}">
              <a16:creationId xmlns:a16="http://schemas.microsoft.com/office/drawing/2014/main" id="{F7700298-885D-F4EF-8150-4760DBECA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2b8f97649_1_119:notes">
            <a:extLst>
              <a:ext uri="{FF2B5EF4-FFF2-40B4-BE49-F238E27FC236}">
                <a16:creationId xmlns:a16="http://schemas.microsoft.com/office/drawing/2014/main" id="{82021455-1B7F-063F-9AD8-7FA9DD5837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2b8f97649_1_119:notes">
            <a:extLst>
              <a:ext uri="{FF2B5EF4-FFF2-40B4-BE49-F238E27FC236}">
                <a16:creationId xmlns:a16="http://schemas.microsoft.com/office/drawing/2014/main" id="{1EB9C897-BDEA-A832-BAA0-6C9D6265A1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4356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FD98F703-E34C-9560-B27D-08BABA696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92581b7e23_0_108:notes">
            <a:extLst>
              <a:ext uri="{FF2B5EF4-FFF2-40B4-BE49-F238E27FC236}">
                <a16:creationId xmlns:a16="http://schemas.microsoft.com/office/drawing/2014/main" id="{FF690DB3-3C3A-A4C9-4B0D-5FD77C05C8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92581b7e23_0_108:notes">
            <a:extLst>
              <a:ext uri="{FF2B5EF4-FFF2-40B4-BE49-F238E27FC236}">
                <a16:creationId xmlns:a16="http://schemas.microsoft.com/office/drawing/2014/main" id="{D8510AB2-2560-693B-5ACD-F960B6C83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89973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>
          <a:extLst>
            <a:ext uri="{FF2B5EF4-FFF2-40B4-BE49-F238E27FC236}">
              <a16:creationId xmlns:a16="http://schemas.microsoft.com/office/drawing/2014/main" id="{54B71D58-42E7-3E8C-3826-1DB712C56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2b8f97649_1_119:notes">
            <a:extLst>
              <a:ext uri="{FF2B5EF4-FFF2-40B4-BE49-F238E27FC236}">
                <a16:creationId xmlns:a16="http://schemas.microsoft.com/office/drawing/2014/main" id="{16ACF898-EC2A-3921-0B14-2FF398068C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2b8f97649_1_119:notes">
            <a:extLst>
              <a:ext uri="{FF2B5EF4-FFF2-40B4-BE49-F238E27FC236}">
                <a16:creationId xmlns:a16="http://schemas.microsoft.com/office/drawing/2014/main" id="{508D350B-642A-8E3B-5624-6F8B484FDB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0265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>
          <a:extLst>
            <a:ext uri="{FF2B5EF4-FFF2-40B4-BE49-F238E27FC236}">
              <a16:creationId xmlns:a16="http://schemas.microsoft.com/office/drawing/2014/main" id="{65843300-2744-79B0-8C28-98BD575A3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2b8f97649_1_119:notes">
            <a:extLst>
              <a:ext uri="{FF2B5EF4-FFF2-40B4-BE49-F238E27FC236}">
                <a16:creationId xmlns:a16="http://schemas.microsoft.com/office/drawing/2014/main" id="{B9B85403-5E7A-D151-5E72-B792C3BF8B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2b8f97649_1_119:notes">
            <a:extLst>
              <a:ext uri="{FF2B5EF4-FFF2-40B4-BE49-F238E27FC236}">
                <a16:creationId xmlns:a16="http://schemas.microsoft.com/office/drawing/2014/main" id="{718A0C3D-E7B7-BB52-4F04-3D0209E74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63448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BD48655E-2D14-DD9E-C78E-3A718B99F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92581b7e23_0_108:notes">
            <a:extLst>
              <a:ext uri="{FF2B5EF4-FFF2-40B4-BE49-F238E27FC236}">
                <a16:creationId xmlns:a16="http://schemas.microsoft.com/office/drawing/2014/main" id="{6414F838-5650-CADD-6B50-CA6D5FC89D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92581b7e23_0_108:notes">
            <a:extLst>
              <a:ext uri="{FF2B5EF4-FFF2-40B4-BE49-F238E27FC236}">
                <a16:creationId xmlns:a16="http://schemas.microsoft.com/office/drawing/2014/main" id="{698BE2EB-0014-3E06-6E13-1C2966F63C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49122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>
          <a:extLst>
            <a:ext uri="{FF2B5EF4-FFF2-40B4-BE49-F238E27FC236}">
              <a16:creationId xmlns:a16="http://schemas.microsoft.com/office/drawing/2014/main" id="{83FF60D1-8D2E-1DA8-0E09-F96D40977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2b8f97649_1_119:notes">
            <a:extLst>
              <a:ext uri="{FF2B5EF4-FFF2-40B4-BE49-F238E27FC236}">
                <a16:creationId xmlns:a16="http://schemas.microsoft.com/office/drawing/2014/main" id="{F467CE06-C6BA-5B00-9A68-175E6EDABF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2b8f97649_1_119:notes">
            <a:extLst>
              <a:ext uri="{FF2B5EF4-FFF2-40B4-BE49-F238E27FC236}">
                <a16:creationId xmlns:a16="http://schemas.microsoft.com/office/drawing/2014/main" id="{183D40D0-D9E9-0C78-7274-1489AA9ADF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18166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>
          <a:extLst>
            <a:ext uri="{FF2B5EF4-FFF2-40B4-BE49-F238E27FC236}">
              <a16:creationId xmlns:a16="http://schemas.microsoft.com/office/drawing/2014/main" id="{1A51AB9A-F815-8349-3285-39A14391D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2b8f97649_1_119:notes">
            <a:extLst>
              <a:ext uri="{FF2B5EF4-FFF2-40B4-BE49-F238E27FC236}">
                <a16:creationId xmlns:a16="http://schemas.microsoft.com/office/drawing/2014/main" id="{295B2B6A-DAB1-E32D-2937-88A24235F7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2b8f97649_1_119:notes">
            <a:extLst>
              <a:ext uri="{FF2B5EF4-FFF2-40B4-BE49-F238E27FC236}">
                <a16:creationId xmlns:a16="http://schemas.microsoft.com/office/drawing/2014/main" id="{3B975906-C146-B50F-4119-A759E4114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0719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34950" y="1398100"/>
            <a:ext cx="6486900" cy="15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72000" y="3461550"/>
            <a:ext cx="2947500" cy="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68674" y="-322162"/>
            <a:ext cx="9371984" cy="3960713"/>
            <a:chOff x="-268674" y="-322162"/>
            <a:chExt cx="9371984" cy="3960713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25762" y="151638"/>
              <a:ext cx="8692477" cy="1388125"/>
              <a:chOff x="225762" y="151638"/>
              <a:chExt cx="8692477" cy="138812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10800000">
                <a:off x="6955037" y="151638"/>
                <a:ext cx="1963202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10800000" flipH="1">
                <a:off x="225762" y="151638"/>
                <a:ext cx="1963202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6" name="Google Shape;16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7371875" y="1504250"/>
              <a:ext cx="2700599" cy="506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2"/>
            <p:cNvPicPr preferRelativeResize="0"/>
            <p:nvPr/>
          </p:nvPicPr>
          <p:blipFill rotWithShape="1">
            <a:blip r:embed="rId4">
              <a:alphaModFix/>
            </a:blip>
            <a:srcRect t="53277"/>
            <a:stretch/>
          </p:blipFill>
          <p:spPr>
            <a:xfrm rot="10800000">
              <a:off x="-268674" y="2723000"/>
              <a:ext cx="1861925" cy="9155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7192572" y="-370975"/>
              <a:ext cx="1861925" cy="19595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720000" y="2209200"/>
            <a:ext cx="28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2"/>
          </p:nvPr>
        </p:nvSpPr>
        <p:spPr>
          <a:xfrm>
            <a:off x="4214900" y="2209200"/>
            <a:ext cx="28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3"/>
          </p:nvPr>
        </p:nvSpPr>
        <p:spPr>
          <a:xfrm>
            <a:off x="720000" y="3942375"/>
            <a:ext cx="28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4"/>
          </p:nvPr>
        </p:nvSpPr>
        <p:spPr>
          <a:xfrm>
            <a:off x="4214900" y="3942375"/>
            <a:ext cx="28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5" hasCustomPrompt="1"/>
          </p:nvPr>
        </p:nvSpPr>
        <p:spPr>
          <a:xfrm>
            <a:off x="821600" y="1332025"/>
            <a:ext cx="904800" cy="447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6" hasCustomPrompt="1"/>
          </p:nvPr>
        </p:nvSpPr>
        <p:spPr>
          <a:xfrm>
            <a:off x="821600" y="3064618"/>
            <a:ext cx="904800" cy="447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7" hasCustomPrompt="1"/>
          </p:nvPr>
        </p:nvSpPr>
        <p:spPr>
          <a:xfrm>
            <a:off x="4316491" y="1332025"/>
            <a:ext cx="904800" cy="447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8" hasCustomPrompt="1"/>
          </p:nvPr>
        </p:nvSpPr>
        <p:spPr>
          <a:xfrm>
            <a:off x="4316491" y="3064618"/>
            <a:ext cx="904800" cy="447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9"/>
          </p:nvPr>
        </p:nvSpPr>
        <p:spPr>
          <a:xfrm>
            <a:off x="720000" y="1801116"/>
            <a:ext cx="2838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3"/>
          </p:nvPr>
        </p:nvSpPr>
        <p:spPr>
          <a:xfrm>
            <a:off x="4214891" y="1801116"/>
            <a:ext cx="2838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14"/>
          </p:nvPr>
        </p:nvSpPr>
        <p:spPr>
          <a:xfrm>
            <a:off x="720000" y="3533776"/>
            <a:ext cx="2838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5"/>
          </p:nvPr>
        </p:nvSpPr>
        <p:spPr>
          <a:xfrm>
            <a:off x="4214891" y="3533776"/>
            <a:ext cx="2838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98" name="Google Shape;98;p13"/>
          <p:cNvGrpSpPr/>
          <p:nvPr/>
        </p:nvGrpSpPr>
        <p:grpSpPr>
          <a:xfrm>
            <a:off x="875350" y="127038"/>
            <a:ext cx="8033701" cy="4846535"/>
            <a:chOff x="875350" y="127038"/>
            <a:chExt cx="8033701" cy="4846535"/>
          </a:xfrm>
        </p:grpSpPr>
        <p:pic>
          <p:nvPicPr>
            <p:cNvPr id="99" name="Google Shape;99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262350" y="4591273"/>
              <a:ext cx="1646700" cy="38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875350" y="127038"/>
              <a:ext cx="797312" cy="185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" name="Google Shape;101;p13"/>
          <p:cNvGrpSpPr/>
          <p:nvPr/>
        </p:nvGrpSpPr>
        <p:grpSpPr>
          <a:xfrm>
            <a:off x="-989124" y="-114101"/>
            <a:ext cx="9926867" cy="5390476"/>
            <a:chOff x="-989124" y="-114101"/>
            <a:chExt cx="9926867" cy="5390476"/>
          </a:xfrm>
        </p:grpSpPr>
        <p:pic>
          <p:nvPicPr>
            <p:cNvPr id="102" name="Google Shape;102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 flipH="1">
              <a:off x="7472389" y="3811021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989124" y="-114101"/>
              <a:ext cx="2123360" cy="667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lt1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52" name="Google Shape;352;p35"/>
          <p:cNvGrpSpPr/>
          <p:nvPr/>
        </p:nvGrpSpPr>
        <p:grpSpPr>
          <a:xfrm>
            <a:off x="-113450" y="-1649725"/>
            <a:ext cx="9394610" cy="8421100"/>
            <a:chOff x="-113450" y="-1649725"/>
            <a:chExt cx="9394610" cy="8421100"/>
          </a:xfrm>
        </p:grpSpPr>
        <p:grpSp>
          <p:nvGrpSpPr>
            <p:cNvPr id="353" name="Google Shape;353;p35"/>
            <p:cNvGrpSpPr/>
            <p:nvPr/>
          </p:nvGrpSpPr>
          <p:grpSpPr>
            <a:xfrm>
              <a:off x="-113450" y="-1649725"/>
              <a:ext cx="8689100" cy="5214600"/>
              <a:chOff x="-113450" y="-1649725"/>
              <a:chExt cx="8689100" cy="5214600"/>
            </a:xfrm>
          </p:grpSpPr>
          <p:sp>
            <p:nvSpPr>
              <p:cNvPr id="354" name="Google Shape;354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2595" extrusionOk="0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5" name="Google Shape;355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8141" h="123444" extrusionOk="0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6" name="Google Shape;356;p35"/>
              <p:cNvSpPr/>
              <p:nvPr/>
            </p:nvSpPr>
            <p:spPr>
              <a:xfrm>
                <a:off x="0" y="237025"/>
                <a:ext cx="8575650" cy="164450"/>
              </a:xfrm>
              <a:custGeom>
                <a:avLst/>
                <a:gdLst/>
                <a:ahLst/>
                <a:cxnLst/>
                <a:rect l="l" t="t" r="r" b="b"/>
                <a:pathLst>
                  <a:path w="343026" h="6578" extrusionOk="0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  <p:grpSp>
          <p:nvGrpSpPr>
            <p:cNvPr id="357" name="Google Shape;357;p35"/>
            <p:cNvGrpSpPr/>
            <p:nvPr/>
          </p:nvGrpSpPr>
          <p:grpSpPr>
            <a:xfrm rot="10800000">
              <a:off x="553960" y="1556775"/>
              <a:ext cx="8727200" cy="5214600"/>
              <a:chOff x="-113450" y="-1649725"/>
              <a:chExt cx="8727200" cy="5214600"/>
            </a:xfrm>
          </p:grpSpPr>
          <p:sp>
            <p:nvSpPr>
              <p:cNvPr id="358" name="Google Shape;358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2595" extrusionOk="0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9" name="Google Shape;359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8141" h="123444" extrusionOk="0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60" name="Google Shape;360;p35"/>
              <p:cNvSpPr/>
              <p:nvPr/>
            </p:nvSpPr>
            <p:spPr>
              <a:xfrm>
                <a:off x="38100" y="237025"/>
                <a:ext cx="8575650" cy="164450"/>
              </a:xfrm>
              <a:custGeom>
                <a:avLst/>
                <a:gdLst/>
                <a:ahLst/>
                <a:cxnLst/>
                <a:rect l="l" t="t" r="r" b="b"/>
                <a:pathLst>
                  <a:path w="343026" h="6578" extrusionOk="0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6"/>
          <p:cNvGrpSpPr/>
          <p:nvPr/>
        </p:nvGrpSpPr>
        <p:grpSpPr>
          <a:xfrm>
            <a:off x="-93668" y="0"/>
            <a:ext cx="9329109" cy="5143497"/>
            <a:chOff x="-93668" y="0"/>
            <a:chExt cx="9329109" cy="5143497"/>
          </a:xfrm>
        </p:grpSpPr>
        <p:grpSp>
          <p:nvGrpSpPr>
            <p:cNvPr id="363" name="Google Shape;363;p36"/>
            <p:cNvGrpSpPr/>
            <p:nvPr/>
          </p:nvGrpSpPr>
          <p:grpSpPr>
            <a:xfrm rot="10800000">
              <a:off x="5592122" y="2697400"/>
              <a:ext cx="3643319" cy="2446097"/>
              <a:chOff x="-93668" y="0"/>
              <a:chExt cx="3643319" cy="2446097"/>
            </a:xfrm>
          </p:grpSpPr>
          <p:grpSp>
            <p:nvGrpSpPr>
              <p:cNvPr id="364" name="Google Shape;364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65" name="Google Shape;365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6" name="Google Shape;366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7" name="Google Shape;367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68" name="Google Shape;368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69" name="Google Shape;369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58031" b="6290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0" name="Google Shape;370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3295" t="76293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71" name="Google Shape;371;p36"/>
            <p:cNvGrpSpPr/>
            <p:nvPr/>
          </p:nvGrpSpPr>
          <p:grpSpPr>
            <a:xfrm>
              <a:off x="-93668" y="0"/>
              <a:ext cx="3643319" cy="2446097"/>
              <a:chOff x="-93668" y="0"/>
              <a:chExt cx="3643319" cy="2446097"/>
            </a:xfrm>
          </p:grpSpPr>
          <p:grpSp>
            <p:nvGrpSpPr>
              <p:cNvPr id="372" name="Google Shape;372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73" name="Google Shape;373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4" name="Google Shape;374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5" name="Google Shape;375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76" name="Google Shape;376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77" name="Google Shape;377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58031" b="6290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8" name="Google Shape;378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3295" t="76293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379" name="Google Shape;379;p36"/>
          <p:cNvSpPr/>
          <p:nvPr/>
        </p:nvSpPr>
        <p:spPr>
          <a:xfrm>
            <a:off x="175255" y="182850"/>
            <a:ext cx="8793600" cy="4777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2" name="Google Shape;202;p24"/>
          <p:cNvSpPr txBox="1">
            <a:spLocks noGrp="1"/>
          </p:cNvSpPr>
          <p:nvPr>
            <p:ph type="title"/>
          </p:nvPr>
        </p:nvSpPr>
        <p:spPr>
          <a:xfrm>
            <a:off x="5415775" y="1943370"/>
            <a:ext cx="3015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5415775" y="2580488"/>
            <a:ext cx="3015000" cy="10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4" name="Google Shape;204;p24"/>
          <p:cNvGrpSpPr/>
          <p:nvPr/>
        </p:nvGrpSpPr>
        <p:grpSpPr>
          <a:xfrm>
            <a:off x="-715684" y="-910399"/>
            <a:ext cx="9731141" cy="5824491"/>
            <a:chOff x="-715684" y="-910399"/>
            <a:chExt cx="9731141" cy="5824491"/>
          </a:xfrm>
        </p:grpSpPr>
        <p:pic>
          <p:nvPicPr>
            <p:cNvPr id="205" name="Google Shape;205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8100000">
              <a:off x="-222201" y="-474253"/>
              <a:ext cx="2186986" cy="23016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6924987" y="201250"/>
              <a:ext cx="1963202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7393751" y="941943"/>
              <a:ext cx="2467773" cy="7756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488576" y="4451159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9" name="Google Shape;209;p24"/>
          <p:cNvGrpSpPr/>
          <p:nvPr/>
        </p:nvGrpSpPr>
        <p:grpSpPr>
          <a:xfrm>
            <a:off x="-44934" y="-61767"/>
            <a:ext cx="9236542" cy="5274066"/>
            <a:chOff x="-44934" y="-61767"/>
            <a:chExt cx="9236542" cy="5274066"/>
          </a:xfrm>
        </p:grpSpPr>
        <p:pic>
          <p:nvPicPr>
            <p:cNvPr id="210" name="Google Shape;210;p2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7004083" y="4437200"/>
              <a:ext cx="2187526" cy="775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 flipH="1">
              <a:off x="-44934" y="-61767"/>
              <a:ext cx="2187526" cy="775099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807299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  <p:sldLayoutId id="2147483681" r:id="rId4"/>
    <p:sldLayoutId id="2147483682" r:id="rId5"/>
    <p:sldLayoutId id="214748368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40"/>
          <p:cNvPicPr preferRelativeResize="0"/>
          <p:nvPr/>
        </p:nvPicPr>
        <p:blipFill rotWithShape="1">
          <a:blip r:embed="rId3">
            <a:alphaModFix/>
          </a:blip>
          <a:srcRect l="2123" b="9502"/>
          <a:stretch/>
        </p:blipFill>
        <p:spPr>
          <a:xfrm>
            <a:off x="0" y="3692921"/>
            <a:ext cx="4304653" cy="14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Judul 4">
            <a:extLst>
              <a:ext uri="{FF2B5EF4-FFF2-40B4-BE49-F238E27FC236}">
                <a16:creationId xmlns:a16="http://schemas.microsoft.com/office/drawing/2014/main" id="{32FA0446-5441-C2E8-8CBA-AFDB93486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8444" y="1035970"/>
            <a:ext cx="2881993" cy="259942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500" dirty="0">
                <a:latin typeface="HGPSoeiKakugothicUB" panose="020B0400000000000000" pitchFamily="34" charset="-128"/>
                <a:ea typeface="HGPSoeiKakugothicUB" panose="020B0400000000000000" pitchFamily="34" charset="-128"/>
              </a:rPr>
              <a:t>Sistem </a:t>
            </a:r>
            <a:r>
              <a:rPr lang="en-US" sz="3500" dirty="0" err="1">
                <a:latin typeface="HGPSoeiKakugothicUB" panose="020B0400000000000000" pitchFamily="34" charset="-128"/>
                <a:ea typeface="HGPSoeiKakugothicUB" panose="020B0400000000000000" pitchFamily="34" charset="-128"/>
              </a:rPr>
              <a:t>Informasi</a:t>
            </a:r>
            <a:r>
              <a:rPr lang="en-US" sz="3500" dirty="0">
                <a:latin typeface="HGPSoeiKakugothicUB" panose="020B0400000000000000" pitchFamily="34" charset="-128"/>
                <a:ea typeface="HGPSoeiKakugothicUB" panose="020B0400000000000000" pitchFamily="34" charset="-128"/>
              </a:rPr>
              <a:t> </a:t>
            </a:r>
            <a:r>
              <a:rPr lang="en-US" sz="3500" i="1" dirty="0">
                <a:latin typeface="HGPSoeiKakugothicUB" panose="020B0400000000000000" pitchFamily="34" charset="-128"/>
                <a:ea typeface="HGPSoeiKakugothicUB" panose="020B0400000000000000" pitchFamily="34" charset="-128"/>
              </a:rPr>
              <a:t>Traceability</a:t>
            </a:r>
            <a:r>
              <a:rPr lang="en-US" sz="3500" dirty="0">
                <a:latin typeface="HGPSoeiKakugothicUB" panose="020B0400000000000000" pitchFamily="34" charset="-128"/>
                <a:ea typeface="HGPSoeiKakugothicUB" panose="020B0400000000000000" pitchFamily="34" charset="-128"/>
              </a:rPr>
              <a:t> Materials</a:t>
            </a:r>
          </a:p>
        </p:txBody>
      </p:sp>
      <p:pic>
        <p:nvPicPr>
          <p:cNvPr id="7" name="Gambar 6" descr="Sebuah gambar berisi teks, cuplikan layar, software, Software multimedia&#10;&#10;Konten yang dihasilkan AI mungkin salah.">
            <a:extLst>
              <a:ext uri="{FF2B5EF4-FFF2-40B4-BE49-F238E27FC236}">
                <a16:creationId xmlns:a16="http://schemas.microsoft.com/office/drawing/2014/main" id="{612987FC-B287-233F-DBB1-D857F57D4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774" y="1551213"/>
            <a:ext cx="3765782" cy="20841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359F2D0D-BEC2-2559-43C2-1478D82D2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Judul 2">
            <a:extLst>
              <a:ext uri="{FF2B5EF4-FFF2-40B4-BE49-F238E27FC236}">
                <a16:creationId xmlns:a16="http://schemas.microsoft.com/office/drawing/2014/main" id="{8EE0AD9F-AE25-1D3C-C9A7-35D685E7A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382" y="1008361"/>
            <a:ext cx="4335236" cy="1130682"/>
          </a:xfrm>
        </p:spPr>
        <p:txBody>
          <a:bodyPr/>
          <a:lstStyle/>
          <a:p>
            <a:pPr algn="ctr"/>
            <a:r>
              <a:rPr lang="en-US" dirty="0"/>
              <a:t>Dashboard </a:t>
            </a:r>
            <a:br>
              <a:rPr lang="en-US" dirty="0"/>
            </a:br>
            <a:r>
              <a:rPr lang="en-US" dirty="0"/>
              <a:t>Consumed &amp; Produced</a:t>
            </a:r>
          </a:p>
        </p:txBody>
      </p:sp>
      <p:sp>
        <p:nvSpPr>
          <p:cNvPr id="4" name="Judul 2">
            <a:extLst>
              <a:ext uri="{FF2B5EF4-FFF2-40B4-BE49-F238E27FC236}">
                <a16:creationId xmlns:a16="http://schemas.microsoft.com/office/drawing/2014/main" id="{7D216602-8898-7C1B-8E74-D555D0A8A53A}"/>
              </a:ext>
            </a:extLst>
          </p:cNvPr>
          <p:cNvSpPr txBox="1">
            <a:spLocks/>
          </p:cNvSpPr>
          <p:nvPr/>
        </p:nvSpPr>
        <p:spPr>
          <a:xfrm>
            <a:off x="770966" y="2310493"/>
            <a:ext cx="7391258" cy="1905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algn="ctr"/>
            <a:r>
              <a:rPr lang="en-US" sz="1400" b="0" dirty="0"/>
              <a:t>Dashboard Consumed &amp; Produced </a:t>
            </a:r>
            <a:r>
              <a:rPr lang="en-US" sz="1400" b="0" dirty="0" err="1"/>
              <a:t>berfungsi</a:t>
            </a:r>
            <a:r>
              <a:rPr lang="en-US" sz="1400" b="0" dirty="0"/>
              <a:t> </a:t>
            </a:r>
            <a:r>
              <a:rPr lang="en-US" sz="1400" b="0" dirty="0" err="1"/>
              <a:t>untuk</a:t>
            </a:r>
            <a:r>
              <a:rPr lang="en-US" sz="1400" b="0" dirty="0"/>
              <a:t> </a:t>
            </a:r>
            <a:r>
              <a:rPr lang="en-US" sz="1400" b="0" dirty="0" err="1"/>
              <a:t>menampilkan</a:t>
            </a:r>
            <a:r>
              <a:rPr lang="en-US" sz="1400" b="0" dirty="0"/>
              <a:t> total </a:t>
            </a:r>
            <a:r>
              <a:rPr lang="en-US" sz="1400" b="0" i="1" dirty="0"/>
              <a:t>consumed</a:t>
            </a:r>
            <a:r>
              <a:rPr lang="en-US" sz="1400" b="0" dirty="0"/>
              <a:t> dan </a:t>
            </a:r>
            <a:r>
              <a:rPr lang="en-US" sz="1400" b="0" i="1" dirty="0"/>
              <a:t>produced</a:t>
            </a:r>
            <a:r>
              <a:rPr lang="en-US" sz="1400" b="0" dirty="0"/>
              <a:t>. Dashboard ini </a:t>
            </a:r>
            <a:r>
              <a:rPr lang="en-US" sz="1400" b="0" dirty="0" err="1"/>
              <a:t>dapat</a:t>
            </a:r>
            <a:r>
              <a:rPr lang="en-US" sz="1400" b="0" dirty="0"/>
              <a:t> </a:t>
            </a:r>
            <a:r>
              <a:rPr lang="en-US" sz="1400" b="0" dirty="0" err="1"/>
              <a:t>difilter</a:t>
            </a:r>
            <a:r>
              <a:rPr lang="en-US" sz="1400" b="0" dirty="0"/>
              <a:t> </a:t>
            </a:r>
            <a:r>
              <a:rPr lang="en-US" sz="1400" b="0" dirty="0" err="1"/>
              <a:t>berdasarkan</a:t>
            </a:r>
            <a:r>
              <a:rPr lang="en-US" sz="1400" b="0" dirty="0"/>
              <a:t> tanggal dan shift, fase </a:t>
            </a:r>
            <a:r>
              <a:rPr lang="en-US" sz="1400" b="0" dirty="0" err="1"/>
              <a:t>produksi</a:t>
            </a:r>
            <a:r>
              <a:rPr lang="en-US" sz="1400" b="0" dirty="0"/>
              <a:t> (</a:t>
            </a:r>
            <a:r>
              <a:rPr lang="en-US" sz="1400" b="0" i="1" dirty="0"/>
              <a:t>production phase</a:t>
            </a:r>
            <a:r>
              <a:rPr lang="en-US" sz="1400" b="0" dirty="0"/>
              <a:t>), </a:t>
            </a:r>
            <a:r>
              <a:rPr lang="en-US" sz="1400" b="0" dirty="0" err="1"/>
              <a:t>serta</a:t>
            </a:r>
            <a:r>
              <a:rPr lang="en-US" sz="1400" b="0" dirty="0"/>
              <a:t> </a:t>
            </a:r>
            <a:r>
              <a:rPr lang="en-US" sz="1400" b="0" dirty="0" err="1"/>
              <a:t>mesin</a:t>
            </a:r>
            <a:r>
              <a:rPr lang="en-US" sz="1400" b="0" dirty="0"/>
              <a:t>. Selain itu, dashboard ini juga </a:t>
            </a:r>
            <a:r>
              <a:rPr lang="en-US" sz="1400" b="0" dirty="0" err="1"/>
              <a:t>dilengkapi</a:t>
            </a:r>
            <a:r>
              <a:rPr lang="en-US" sz="1400" b="0" dirty="0"/>
              <a:t> </a:t>
            </a:r>
            <a:r>
              <a:rPr lang="en-US" sz="1400" b="0" dirty="0" err="1"/>
              <a:t>dengan</a:t>
            </a:r>
            <a:r>
              <a:rPr lang="en-US" sz="1400" b="0" dirty="0"/>
              <a:t> </a:t>
            </a:r>
            <a:r>
              <a:rPr lang="en-US" sz="1400" b="0" dirty="0" err="1"/>
              <a:t>tabel</a:t>
            </a:r>
            <a:r>
              <a:rPr lang="en-US" sz="1400" b="0" dirty="0"/>
              <a:t> detail </a:t>
            </a:r>
            <a:r>
              <a:rPr lang="en-US" sz="1400" b="0" i="1" dirty="0"/>
              <a:t>consumed</a:t>
            </a:r>
            <a:r>
              <a:rPr lang="en-US" sz="1400" b="0" dirty="0"/>
              <a:t> dan </a:t>
            </a:r>
            <a:r>
              <a:rPr lang="en-US" sz="1400" b="0" dirty="0" err="1"/>
              <a:t>tabel</a:t>
            </a:r>
            <a:r>
              <a:rPr lang="en-US" sz="1400" b="0" dirty="0"/>
              <a:t> detail </a:t>
            </a:r>
            <a:r>
              <a:rPr lang="en-US" sz="1400" b="0" i="1" dirty="0"/>
              <a:t>produced</a:t>
            </a:r>
            <a:r>
              <a:rPr lang="en-US" sz="1400" b="0" dirty="0"/>
              <a:t> </a:t>
            </a:r>
            <a:r>
              <a:rPr lang="en-US" sz="1400" b="0" dirty="0" err="1"/>
              <a:t>untuk</a:t>
            </a:r>
            <a:r>
              <a:rPr lang="en-US" sz="1400" b="0" dirty="0"/>
              <a:t> </a:t>
            </a:r>
            <a:r>
              <a:rPr lang="en-US" sz="1400" b="0" dirty="0" err="1"/>
              <a:t>melihat</a:t>
            </a:r>
            <a:r>
              <a:rPr lang="en-US" sz="1400" b="0" dirty="0"/>
              <a:t> data </a:t>
            </a:r>
            <a:r>
              <a:rPr lang="en-US" sz="1400" b="0" dirty="0" err="1"/>
              <a:t>secara</a:t>
            </a:r>
            <a:r>
              <a:rPr lang="en-US" sz="1400" b="0" dirty="0"/>
              <a:t> lebih </a:t>
            </a:r>
            <a:r>
              <a:rPr lang="en-US" sz="1400" b="0" dirty="0" err="1"/>
              <a:t>rinci</a:t>
            </a:r>
            <a:r>
              <a:rPr lang="en-US" sz="1400" b="0" dirty="0"/>
              <a:t>.</a:t>
            </a:r>
            <a:endParaRPr lang="en-US" sz="14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71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ambar 5" descr="Sebuah gambar berisi teks, cuplikan layar, software, Ikon komputer&#10;&#10;Konten yang dihasilkan AI mungkin salah.">
            <a:extLst>
              <a:ext uri="{FF2B5EF4-FFF2-40B4-BE49-F238E27FC236}">
                <a16:creationId xmlns:a16="http://schemas.microsoft.com/office/drawing/2014/main" id="{8D6D5583-DA0A-1AF4-FF29-87F98F7C24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315"/>
          <a:stretch>
            <a:fillRect/>
          </a:stretch>
        </p:blipFill>
        <p:spPr>
          <a:xfrm>
            <a:off x="2169830" y="2260600"/>
            <a:ext cx="4804340" cy="253445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</p:pic>
      <p:sp>
        <p:nvSpPr>
          <p:cNvPr id="7" name="Judul 2">
            <a:extLst>
              <a:ext uri="{FF2B5EF4-FFF2-40B4-BE49-F238E27FC236}">
                <a16:creationId xmlns:a16="http://schemas.microsoft.com/office/drawing/2014/main" id="{E958D69D-E851-4E74-D207-38E95A52A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232755"/>
            <a:ext cx="5514975" cy="575509"/>
          </a:xfrm>
        </p:spPr>
        <p:txBody>
          <a:bodyPr/>
          <a:lstStyle/>
          <a:p>
            <a:pPr algn="l"/>
            <a:r>
              <a:rPr lang="en-US" sz="2000" dirty="0"/>
              <a:t>01. </a:t>
            </a:r>
            <a:r>
              <a:rPr lang="en-US" sz="2000" dirty="0" err="1"/>
              <a:t>Informasi</a:t>
            </a:r>
            <a:r>
              <a:rPr lang="en-US" sz="2000" dirty="0"/>
              <a:t> Fitur </a:t>
            </a:r>
          </a:p>
        </p:txBody>
      </p:sp>
      <p:sp>
        <p:nvSpPr>
          <p:cNvPr id="3" name="Keterangan: Garis Bengkok Ganda 2">
            <a:extLst>
              <a:ext uri="{FF2B5EF4-FFF2-40B4-BE49-F238E27FC236}">
                <a16:creationId xmlns:a16="http://schemas.microsoft.com/office/drawing/2014/main" id="{6F8B1C79-2328-A928-78E1-3264DCC603B8}"/>
              </a:ext>
            </a:extLst>
          </p:cNvPr>
          <p:cNvSpPr/>
          <p:nvPr/>
        </p:nvSpPr>
        <p:spPr>
          <a:xfrm>
            <a:off x="7298870" y="2960064"/>
            <a:ext cx="1281793" cy="375556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100652"/>
              <a:gd name="adj8" fmla="val -47504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Total Produced</a:t>
            </a:r>
          </a:p>
        </p:txBody>
      </p:sp>
      <p:sp>
        <p:nvSpPr>
          <p:cNvPr id="4" name="Keterangan: Garis Bengkok Ganda 3">
            <a:extLst>
              <a:ext uri="{FF2B5EF4-FFF2-40B4-BE49-F238E27FC236}">
                <a16:creationId xmlns:a16="http://schemas.microsoft.com/office/drawing/2014/main" id="{FAC3ED70-C3CF-9CA4-5D3C-529B44D6648A}"/>
              </a:ext>
            </a:extLst>
          </p:cNvPr>
          <p:cNvSpPr/>
          <p:nvPr/>
        </p:nvSpPr>
        <p:spPr>
          <a:xfrm>
            <a:off x="7298870" y="3924469"/>
            <a:ext cx="1281793" cy="375556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100652"/>
              <a:gd name="adj8" fmla="val -4288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Tabel Detail Produced</a:t>
            </a:r>
          </a:p>
        </p:txBody>
      </p:sp>
      <p:sp>
        <p:nvSpPr>
          <p:cNvPr id="5" name="Keterangan: Garis Bengkok Ganda 4">
            <a:extLst>
              <a:ext uri="{FF2B5EF4-FFF2-40B4-BE49-F238E27FC236}">
                <a16:creationId xmlns:a16="http://schemas.microsoft.com/office/drawing/2014/main" id="{286DC2C4-130A-3875-D139-E5D2C8D55B45}"/>
              </a:ext>
            </a:extLst>
          </p:cNvPr>
          <p:cNvSpPr/>
          <p:nvPr/>
        </p:nvSpPr>
        <p:spPr>
          <a:xfrm>
            <a:off x="415167" y="3397650"/>
            <a:ext cx="1328056" cy="238274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2930"/>
              <a:gd name="adj6" fmla="val 111995"/>
              <a:gd name="adj7" fmla="val -8309"/>
              <a:gd name="adj8" fmla="val 1441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Total Consumed</a:t>
            </a:r>
          </a:p>
        </p:txBody>
      </p:sp>
      <p:sp>
        <p:nvSpPr>
          <p:cNvPr id="9" name="Keterangan: Garis Bengkok Ganda 8">
            <a:extLst>
              <a:ext uri="{FF2B5EF4-FFF2-40B4-BE49-F238E27FC236}">
                <a16:creationId xmlns:a16="http://schemas.microsoft.com/office/drawing/2014/main" id="{413B7D2B-978A-0AA8-2B9F-1287AAD469B0}"/>
              </a:ext>
            </a:extLst>
          </p:cNvPr>
          <p:cNvSpPr/>
          <p:nvPr/>
        </p:nvSpPr>
        <p:spPr>
          <a:xfrm>
            <a:off x="415167" y="3877453"/>
            <a:ext cx="1328056" cy="375556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84782"/>
              <a:gd name="adj6" fmla="val 112632"/>
              <a:gd name="adj7" fmla="val 101054"/>
              <a:gd name="adj8" fmla="val 14656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Tabel Detail Consumed</a:t>
            </a:r>
          </a:p>
        </p:txBody>
      </p:sp>
      <p:sp>
        <p:nvSpPr>
          <p:cNvPr id="10" name="Keterangan: Garis Bengkok Ganda 9">
            <a:extLst>
              <a:ext uri="{FF2B5EF4-FFF2-40B4-BE49-F238E27FC236}">
                <a16:creationId xmlns:a16="http://schemas.microsoft.com/office/drawing/2014/main" id="{1E663EDF-3ACF-B5B9-D9FF-9F7BE006C968}"/>
              </a:ext>
            </a:extLst>
          </p:cNvPr>
          <p:cNvSpPr/>
          <p:nvPr/>
        </p:nvSpPr>
        <p:spPr>
          <a:xfrm>
            <a:off x="415167" y="1633192"/>
            <a:ext cx="1429962" cy="375556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271900"/>
              <a:gd name="adj6" fmla="val 113224"/>
              <a:gd name="adj7" fmla="val 285918"/>
              <a:gd name="adj8" fmla="val 133972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From Filter Tanggal &amp; Shift </a:t>
            </a:r>
          </a:p>
        </p:txBody>
      </p:sp>
      <p:sp>
        <p:nvSpPr>
          <p:cNvPr id="12" name="Keterangan: Garis Bengkok Ganda 11">
            <a:extLst>
              <a:ext uri="{FF2B5EF4-FFF2-40B4-BE49-F238E27FC236}">
                <a16:creationId xmlns:a16="http://schemas.microsoft.com/office/drawing/2014/main" id="{3C9D654B-F0ED-C46D-A372-75AA372D6318}"/>
              </a:ext>
            </a:extLst>
          </p:cNvPr>
          <p:cNvSpPr/>
          <p:nvPr/>
        </p:nvSpPr>
        <p:spPr>
          <a:xfrm>
            <a:off x="1845129" y="736803"/>
            <a:ext cx="1614339" cy="241084"/>
          </a:xfrm>
          <a:prstGeom prst="borderCallout3">
            <a:avLst>
              <a:gd name="adj1" fmla="val 52567"/>
              <a:gd name="adj2" fmla="val 99169"/>
              <a:gd name="adj3" fmla="val 52567"/>
              <a:gd name="adj4" fmla="val 115109"/>
              <a:gd name="adj5" fmla="val 105072"/>
              <a:gd name="adj6" fmla="val 115110"/>
              <a:gd name="adj7" fmla="val 763518"/>
              <a:gd name="adj8" fmla="val 11606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To Filter Tanggal &amp; Shift</a:t>
            </a:r>
          </a:p>
        </p:txBody>
      </p:sp>
      <p:sp>
        <p:nvSpPr>
          <p:cNvPr id="13" name="Keterangan: Garis Bengkok Ganda 12">
            <a:extLst>
              <a:ext uri="{FF2B5EF4-FFF2-40B4-BE49-F238E27FC236}">
                <a16:creationId xmlns:a16="http://schemas.microsoft.com/office/drawing/2014/main" id="{88ED739D-C847-DBD1-E4BE-2783543CC652}"/>
              </a:ext>
            </a:extLst>
          </p:cNvPr>
          <p:cNvSpPr/>
          <p:nvPr/>
        </p:nvSpPr>
        <p:spPr>
          <a:xfrm>
            <a:off x="4053209" y="681245"/>
            <a:ext cx="1328056" cy="300573"/>
          </a:xfrm>
          <a:prstGeom prst="borderCallout3">
            <a:avLst>
              <a:gd name="adj1" fmla="val 96576"/>
              <a:gd name="adj2" fmla="val 47573"/>
              <a:gd name="adj3" fmla="val 101118"/>
              <a:gd name="adj4" fmla="val 47606"/>
              <a:gd name="adj5" fmla="val 105072"/>
              <a:gd name="adj6" fmla="val 47605"/>
              <a:gd name="adj7" fmla="val 624030"/>
              <a:gd name="adj8" fmla="val 47428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Filter Production Phase</a:t>
            </a:r>
          </a:p>
        </p:txBody>
      </p:sp>
      <p:sp>
        <p:nvSpPr>
          <p:cNvPr id="14" name="Keterangan: Garis Bengkok Ganda 13">
            <a:extLst>
              <a:ext uri="{FF2B5EF4-FFF2-40B4-BE49-F238E27FC236}">
                <a16:creationId xmlns:a16="http://schemas.microsoft.com/office/drawing/2014/main" id="{04E0E15A-2703-AFF5-5D11-5C37DE4F3391}"/>
              </a:ext>
            </a:extLst>
          </p:cNvPr>
          <p:cNvSpPr/>
          <p:nvPr/>
        </p:nvSpPr>
        <p:spPr>
          <a:xfrm>
            <a:off x="6295514" y="690382"/>
            <a:ext cx="1003356" cy="173848"/>
          </a:xfrm>
          <a:prstGeom prst="borderCallout3">
            <a:avLst>
              <a:gd name="adj1" fmla="val 96576"/>
              <a:gd name="adj2" fmla="val 47573"/>
              <a:gd name="adj3" fmla="val 101118"/>
              <a:gd name="adj4" fmla="val 47606"/>
              <a:gd name="adj5" fmla="val 207345"/>
              <a:gd name="adj6" fmla="val 27353"/>
              <a:gd name="adj7" fmla="val 1140696"/>
              <a:gd name="adj8" fmla="val 28864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Filter Machine</a:t>
            </a:r>
          </a:p>
        </p:txBody>
      </p:sp>
      <p:pic>
        <p:nvPicPr>
          <p:cNvPr id="16" name="Gambar 15" descr="Sebuah gambar berisi teks, cuplikan layar, Font, nomor&#10;&#10;Konten yang dihasilkan AI mungkin salah.">
            <a:extLst>
              <a:ext uri="{FF2B5EF4-FFF2-40B4-BE49-F238E27FC236}">
                <a16:creationId xmlns:a16="http://schemas.microsoft.com/office/drawing/2014/main" id="{4BE0B1E9-5E7F-8DF7-1C93-372F142C8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67" y="2090977"/>
            <a:ext cx="1429962" cy="11238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Gambar 17" descr="Sebuah gambar berisi teks, cuplikan layar, Font, nomor&#10;&#10;Konten yang dihasilkan AI mungkin salah.">
            <a:extLst>
              <a:ext uri="{FF2B5EF4-FFF2-40B4-BE49-F238E27FC236}">
                <a16:creationId xmlns:a16="http://schemas.microsoft.com/office/drawing/2014/main" id="{4B907FF2-4A7E-99D2-51AE-7EE7CAEE2E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0453" y="1033853"/>
            <a:ext cx="1402127" cy="10571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Gambar 19" descr="Sebuah gambar berisi teks, cuplikan layar, Font, nomor&#10;&#10;Konten yang dihasilkan AI mungkin salah.">
            <a:extLst>
              <a:ext uri="{FF2B5EF4-FFF2-40B4-BE49-F238E27FC236}">
                <a16:creationId xmlns:a16="http://schemas.microsoft.com/office/drawing/2014/main" id="{4027A259-B843-5186-D001-D9397648A1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286" y="1065556"/>
            <a:ext cx="1402127" cy="11352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Gambar 21" descr="Sebuah gambar berisi teks, cuplikan layar, nomor, Font&#10;&#10;Konten yang dihasilkan AI mungkin salah.">
            <a:extLst>
              <a:ext uri="{FF2B5EF4-FFF2-40B4-BE49-F238E27FC236}">
                <a16:creationId xmlns:a16="http://schemas.microsoft.com/office/drawing/2014/main" id="{1AE60C94-AB94-6B0B-994D-070E6F1D48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0496" y="919388"/>
            <a:ext cx="1500396" cy="1286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>
          <a:extLst>
            <a:ext uri="{FF2B5EF4-FFF2-40B4-BE49-F238E27FC236}">
              <a16:creationId xmlns:a16="http://schemas.microsoft.com/office/drawing/2014/main" id="{C62E9E83-B517-7F7E-6477-D4B8500A5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Judul 2">
            <a:extLst>
              <a:ext uri="{FF2B5EF4-FFF2-40B4-BE49-F238E27FC236}">
                <a16:creationId xmlns:a16="http://schemas.microsoft.com/office/drawing/2014/main" id="{AE09E3CE-201E-F77B-A22C-2F080E7C2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232755"/>
            <a:ext cx="5514975" cy="575509"/>
          </a:xfrm>
        </p:spPr>
        <p:txBody>
          <a:bodyPr/>
          <a:lstStyle/>
          <a:p>
            <a:pPr algn="l"/>
            <a:r>
              <a:rPr lang="en-US" sz="2000" dirty="0"/>
              <a:t>02. Langkah-Langkah </a:t>
            </a:r>
            <a:r>
              <a:rPr lang="en-US" sz="2000" dirty="0" err="1"/>
              <a:t>Penggunaan</a:t>
            </a:r>
            <a:endParaRPr lang="en-US" sz="2000" dirty="0"/>
          </a:p>
        </p:txBody>
      </p:sp>
      <p:pic>
        <p:nvPicPr>
          <p:cNvPr id="16" name="Gambar 15" descr="Sebuah gambar berisi teks, cuplikan layar, software, Ikon komputer&#10;&#10;Konten yang dihasilkan AI mungkin salah.">
            <a:extLst>
              <a:ext uri="{FF2B5EF4-FFF2-40B4-BE49-F238E27FC236}">
                <a16:creationId xmlns:a16="http://schemas.microsoft.com/office/drawing/2014/main" id="{3277D59E-59C9-9672-014D-E9D7D64DA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1239349"/>
            <a:ext cx="3372717" cy="2272918"/>
          </a:xfrm>
          <a:prstGeom prst="rect">
            <a:avLst/>
          </a:prstGeom>
        </p:spPr>
      </p:pic>
      <p:sp>
        <p:nvSpPr>
          <p:cNvPr id="3" name="Kotak Teks 2">
            <a:extLst>
              <a:ext uri="{FF2B5EF4-FFF2-40B4-BE49-F238E27FC236}">
                <a16:creationId xmlns:a16="http://schemas.microsoft.com/office/drawing/2014/main" id="{5D8AD345-39F9-EA7F-6B25-96A7A532ADC8}"/>
              </a:ext>
            </a:extLst>
          </p:cNvPr>
          <p:cNvSpPr txBox="1"/>
          <p:nvPr/>
        </p:nvSpPr>
        <p:spPr>
          <a:xfrm>
            <a:off x="4298496" y="1420578"/>
            <a:ext cx="3633107" cy="1910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Filter tanggal dan shift </a:t>
            </a:r>
            <a:r>
              <a:rPr lang="en-US" sz="1000" dirty="0" err="1"/>
              <a:t>awal</a:t>
            </a:r>
            <a:r>
              <a:rPr lang="en-US" sz="1000" dirty="0"/>
              <a:t> (From)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Filter tanggal dan shift akhir (To)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 err="1"/>
              <a:t>Tentukan</a:t>
            </a:r>
            <a:r>
              <a:rPr lang="en-US" sz="1000" dirty="0"/>
              <a:t> Production Phase, </a:t>
            </a:r>
            <a:r>
              <a:rPr lang="en-US" sz="1000" dirty="0" err="1"/>
              <a:t>maka</a:t>
            </a:r>
            <a:r>
              <a:rPr lang="en-US" sz="1000" dirty="0"/>
              <a:t> data produced dan consumed </a:t>
            </a:r>
            <a:r>
              <a:rPr lang="en-US" sz="1000" dirty="0" err="1"/>
              <a:t>akan</a:t>
            </a:r>
            <a:r>
              <a:rPr lang="en-US" sz="1000" dirty="0"/>
              <a:t> </a:t>
            </a:r>
            <a:r>
              <a:rPr lang="en-US" sz="1000" dirty="0" err="1"/>
              <a:t>ditampilkan</a:t>
            </a:r>
            <a:r>
              <a:rPr lang="en-US" sz="1000" dirty="0"/>
              <a:t> </a:t>
            </a:r>
            <a:r>
              <a:rPr lang="en-US" sz="1000" dirty="0" err="1"/>
              <a:t>sesuai</a:t>
            </a:r>
            <a:r>
              <a:rPr lang="en-US" sz="1000" dirty="0"/>
              <a:t> tanggal dan production phase yang </a:t>
            </a:r>
            <a:r>
              <a:rPr lang="en-US" sz="1000" dirty="0" err="1"/>
              <a:t>dipilih</a:t>
            </a:r>
            <a:r>
              <a:rPr lang="en-US" sz="1000" dirty="0"/>
              <a:t>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 err="1"/>
              <a:t>Tentukan</a:t>
            </a:r>
            <a:r>
              <a:rPr lang="en-US" sz="1000" dirty="0"/>
              <a:t> Machine, </a:t>
            </a:r>
            <a:r>
              <a:rPr lang="en-US" sz="1000" dirty="0" err="1"/>
              <a:t>maka</a:t>
            </a:r>
            <a:r>
              <a:rPr lang="en-US" sz="1000" dirty="0"/>
              <a:t> data produced dan consumed </a:t>
            </a:r>
            <a:r>
              <a:rPr lang="en-US" sz="1000" dirty="0" err="1"/>
              <a:t>akan</a:t>
            </a:r>
            <a:r>
              <a:rPr lang="en-US" sz="1000" dirty="0"/>
              <a:t> </a:t>
            </a:r>
            <a:r>
              <a:rPr lang="en-US" sz="1000" dirty="0" err="1"/>
              <a:t>ditampilkan</a:t>
            </a:r>
            <a:r>
              <a:rPr lang="en-US" sz="1000" dirty="0"/>
              <a:t> </a:t>
            </a:r>
            <a:r>
              <a:rPr lang="en-US" sz="1000" dirty="0" err="1"/>
              <a:t>sesuai</a:t>
            </a:r>
            <a:r>
              <a:rPr lang="en-US" sz="1000" dirty="0"/>
              <a:t> tanggal, production phase, dan </a:t>
            </a:r>
            <a:r>
              <a:rPr lang="en-US" sz="1000" dirty="0" err="1"/>
              <a:t>mesin</a:t>
            </a:r>
            <a:r>
              <a:rPr lang="en-US" sz="1000" dirty="0"/>
              <a:t> yang </a:t>
            </a:r>
            <a:r>
              <a:rPr lang="en-US" sz="1000" dirty="0" err="1"/>
              <a:t>dipilih</a:t>
            </a:r>
            <a:r>
              <a:rPr lang="en-US" sz="1000" dirty="0"/>
              <a:t>.</a:t>
            </a:r>
          </a:p>
        </p:txBody>
      </p:sp>
      <p:sp>
        <p:nvSpPr>
          <p:cNvPr id="4" name="Kotak Teks 3">
            <a:extLst>
              <a:ext uri="{FF2B5EF4-FFF2-40B4-BE49-F238E27FC236}">
                <a16:creationId xmlns:a16="http://schemas.microsoft.com/office/drawing/2014/main" id="{57C1CDD5-18F9-1AA2-EA16-88C1FD0CCECE}"/>
              </a:ext>
            </a:extLst>
          </p:cNvPr>
          <p:cNvSpPr txBox="1"/>
          <p:nvPr/>
        </p:nvSpPr>
        <p:spPr>
          <a:xfrm>
            <a:off x="600075" y="3710406"/>
            <a:ext cx="3586914" cy="98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dirty="0"/>
              <a:t>Tabel Detail Consumed dan Detail Produced </a:t>
            </a:r>
            <a:r>
              <a:rPr lang="en-US" sz="1000" dirty="0" err="1"/>
              <a:t>menampilkan</a:t>
            </a:r>
            <a:r>
              <a:rPr lang="en-US" sz="1000" dirty="0"/>
              <a:t> data IP Code yang consumed dan produced, </a:t>
            </a:r>
            <a:r>
              <a:rPr lang="en-US" sz="1000" dirty="0" err="1"/>
              <a:t>termasuk</a:t>
            </a:r>
            <a:r>
              <a:rPr lang="en-US" sz="1000" dirty="0"/>
              <a:t> </a:t>
            </a:r>
            <a:r>
              <a:rPr lang="en-US" sz="1000" dirty="0" err="1"/>
              <a:t>informasi</a:t>
            </a:r>
            <a:r>
              <a:rPr lang="en-US" sz="1000" dirty="0"/>
              <a:t> </a:t>
            </a:r>
            <a:r>
              <a:rPr lang="en-US" sz="1000" dirty="0" err="1"/>
              <a:t>jenis</a:t>
            </a:r>
            <a:r>
              <a:rPr lang="en-US" sz="1000" dirty="0"/>
              <a:t> </a:t>
            </a:r>
            <a:r>
              <a:rPr lang="en-US" sz="1000" dirty="0" err="1"/>
              <a:t>produk</a:t>
            </a:r>
            <a:r>
              <a:rPr lang="en-US" sz="1000" dirty="0"/>
              <a:t> yang </a:t>
            </a:r>
            <a:r>
              <a:rPr lang="en-US" sz="1000" dirty="0" err="1"/>
              <a:t>diproduksi</a:t>
            </a:r>
            <a:r>
              <a:rPr lang="en-US" sz="1000" dirty="0"/>
              <a:t> </a:t>
            </a:r>
            <a:r>
              <a:rPr lang="en-US" sz="1000" dirty="0" err="1"/>
              <a:t>serta</a:t>
            </a:r>
            <a:r>
              <a:rPr lang="en-US" sz="1000" dirty="0"/>
              <a:t> </a:t>
            </a:r>
            <a:r>
              <a:rPr lang="en-US" sz="1000" dirty="0" err="1"/>
              <a:t>jumlah</a:t>
            </a:r>
            <a:r>
              <a:rPr lang="en-US" sz="1000" dirty="0"/>
              <a:t> (quantity) yang </a:t>
            </a:r>
            <a:r>
              <a:rPr lang="en-US" sz="1000" dirty="0" err="1"/>
              <a:t>dihasilkan</a:t>
            </a:r>
            <a:r>
              <a:rPr lang="en-US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8755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5F6F61CB-1DAB-17BD-A687-946A04144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Judul 2">
            <a:extLst>
              <a:ext uri="{FF2B5EF4-FFF2-40B4-BE49-F238E27FC236}">
                <a16:creationId xmlns:a16="http://schemas.microsoft.com/office/drawing/2014/main" id="{7116D1F0-D6DE-1C43-142F-9FC44DCE2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382" y="1008361"/>
            <a:ext cx="4335236" cy="1130682"/>
          </a:xfrm>
        </p:spPr>
        <p:txBody>
          <a:bodyPr/>
          <a:lstStyle/>
          <a:p>
            <a:pPr algn="ctr"/>
            <a:r>
              <a:rPr lang="en-US" dirty="0"/>
              <a:t>Dashboard </a:t>
            </a:r>
            <a:br>
              <a:rPr lang="en-US" dirty="0"/>
            </a:br>
            <a:r>
              <a:rPr lang="en-US" dirty="0"/>
              <a:t>Production Data</a:t>
            </a:r>
          </a:p>
        </p:txBody>
      </p:sp>
      <p:sp>
        <p:nvSpPr>
          <p:cNvPr id="4" name="Judul 2">
            <a:extLst>
              <a:ext uri="{FF2B5EF4-FFF2-40B4-BE49-F238E27FC236}">
                <a16:creationId xmlns:a16="http://schemas.microsoft.com/office/drawing/2014/main" id="{3F07EDA5-0748-4C02-9C79-1E47BFB64EBD}"/>
              </a:ext>
            </a:extLst>
          </p:cNvPr>
          <p:cNvSpPr txBox="1">
            <a:spLocks/>
          </p:cNvSpPr>
          <p:nvPr/>
        </p:nvSpPr>
        <p:spPr>
          <a:xfrm>
            <a:off x="693963" y="2310493"/>
            <a:ext cx="7633607" cy="1224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algn="ctr"/>
            <a:r>
              <a:rPr lang="en-US" sz="15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Production Data </a:t>
            </a:r>
            <a:r>
              <a:rPr lang="en-US" sz="15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bertujuan</a:t>
            </a:r>
            <a:r>
              <a:rPr lang="en-US" sz="15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5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menampilkan</a:t>
            </a:r>
            <a:r>
              <a:rPr lang="en-US" sz="15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total </a:t>
            </a:r>
            <a:r>
              <a:rPr lang="en-US" sz="15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produksi</a:t>
            </a:r>
            <a:r>
              <a:rPr lang="en-US" sz="15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pada proses building dan curing. Dashboard ini </a:t>
            </a:r>
            <a:r>
              <a:rPr lang="en-US" sz="15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15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difilter</a:t>
            </a:r>
            <a:r>
              <a:rPr lang="en-US" sz="15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15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tanggal, area, dan IP Code. Selain itu, dashboard ini juga </a:t>
            </a:r>
            <a:r>
              <a:rPr lang="en-US" sz="15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dilengkapi</a:t>
            </a:r>
            <a:r>
              <a:rPr lang="en-US" sz="15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15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fitur</a:t>
            </a:r>
            <a:r>
              <a:rPr lang="en-US" sz="15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5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menghitung</a:t>
            </a:r>
            <a:r>
              <a:rPr lang="en-US" sz="15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durasi</a:t>
            </a:r>
            <a:r>
              <a:rPr lang="en-US" sz="15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waktu kerja setiap </a:t>
            </a:r>
            <a:r>
              <a:rPr lang="en-US" sz="15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mesin</a:t>
            </a:r>
            <a:r>
              <a:rPr lang="en-US" sz="15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dan total quantity yang </a:t>
            </a:r>
            <a:r>
              <a:rPr lang="en-US" sz="15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dihasilkan</a:t>
            </a:r>
            <a:r>
              <a:rPr lang="en-US" sz="15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589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>
          <a:extLst>
            <a:ext uri="{FF2B5EF4-FFF2-40B4-BE49-F238E27FC236}">
              <a16:creationId xmlns:a16="http://schemas.microsoft.com/office/drawing/2014/main" id="{9760A8F8-9323-51D3-2A57-175BC0382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Judul 2">
            <a:extLst>
              <a:ext uri="{FF2B5EF4-FFF2-40B4-BE49-F238E27FC236}">
                <a16:creationId xmlns:a16="http://schemas.microsoft.com/office/drawing/2014/main" id="{C8A9AA79-7A46-DDBC-7FFA-5951187FD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6" y="191568"/>
            <a:ext cx="3116792" cy="575509"/>
          </a:xfrm>
        </p:spPr>
        <p:txBody>
          <a:bodyPr/>
          <a:lstStyle/>
          <a:p>
            <a:pPr algn="l"/>
            <a:r>
              <a:rPr lang="en-US" sz="2000" dirty="0"/>
              <a:t>01. </a:t>
            </a:r>
            <a:r>
              <a:rPr lang="en-US" sz="2000" dirty="0" err="1"/>
              <a:t>Informasi</a:t>
            </a:r>
            <a:r>
              <a:rPr lang="en-US" sz="2000" dirty="0"/>
              <a:t> Fitur </a:t>
            </a:r>
          </a:p>
        </p:txBody>
      </p:sp>
      <p:pic>
        <p:nvPicPr>
          <p:cNvPr id="3" name="Gambar 2" descr="Sebuah gambar berisi teks, cuplikan layar, software, Ikon komputer&#10;&#10;Konten yang dihasilkan AI mungkin salah.">
            <a:extLst>
              <a:ext uri="{FF2B5EF4-FFF2-40B4-BE49-F238E27FC236}">
                <a16:creationId xmlns:a16="http://schemas.microsoft.com/office/drawing/2014/main" id="{2133A461-7292-74BE-5AB6-15E7A18AA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372" y="2262045"/>
            <a:ext cx="4903228" cy="26487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" name="Keterangan: Garis Bengkok Ganda 4">
            <a:extLst>
              <a:ext uri="{FF2B5EF4-FFF2-40B4-BE49-F238E27FC236}">
                <a16:creationId xmlns:a16="http://schemas.microsoft.com/office/drawing/2014/main" id="{BE31DB35-8920-5CBD-F852-AAC3237BC533}"/>
              </a:ext>
            </a:extLst>
          </p:cNvPr>
          <p:cNvSpPr/>
          <p:nvPr/>
        </p:nvSpPr>
        <p:spPr>
          <a:xfrm>
            <a:off x="5025737" y="1911709"/>
            <a:ext cx="1162050" cy="236015"/>
          </a:xfrm>
          <a:prstGeom prst="borderCallout3">
            <a:avLst>
              <a:gd name="adj1" fmla="val 96576"/>
              <a:gd name="adj2" fmla="val 47573"/>
              <a:gd name="adj3" fmla="val 101118"/>
              <a:gd name="adj4" fmla="val 47606"/>
              <a:gd name="adj5" fmla="val 105072"/>
              <a:gd name="adj6" fmla="val 47605"/>
              <a:gd name="adj7" fmla="val 358122"/>
              <a:gd name="adj8" fmla="val 47428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Filter IP Code</a:t>
            </a:r>
          </a:p>
        </p:txBody>
      </p:sp>
      <p:sp>
        <p:nvSpPr>
          <p:cNvPr id="6" name="Keterangan: Garis Bengkok Ganda 5">
            <a:extLst>
              <a:ext uri="{FF2B5EF4-FFF2-40B4-BE49-F238E27FC236}">
                <a16:creationId xmlns:a16="http://schemas.microsoft.com/office/drawing/2014/main" id="{6C448634-B437-5490-9A5B-1EAFAB36F886}"/>
              </a:ext>
            </a:extLst>
          </p:cNvPr>
          <p:cNvSpPr/>
          <p:nvPr/>
        </p:nvSpPr>
        <p:spPr>
          <a:xfrm>
            <a:off x="390526" y="3932157"/>
            <a:ext cx="1162050" cy="575509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2447"/>
              <a:gd name="adj6" fmla="val 112632"/>
              <a:gd name="adj7" fmla="val -18393"/>
              <a:gd name="adj8" fmla="val 15132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Tabel </a:t>
            </a:r>
            <a:r>
              <a:rPr lang="en-US" sz="1000" dirty="0" err="1">
                <a:solidFill>
                  <a:schemeClr val="bg1">
                    <a:lumMod val="10000"/>
                  </a:schemeClr>
                </a:solidFill>
              </a:rPr>
              <a:t>Produksi</a:t>
            </a:r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, </a:t>
            </a:r>
            <a:r>
              <a:rPr lang="en-US" sz="1000" dirty="0" err="1">
                <a:solidFill>
                  <a:schemeClr val="bg1">
                    <a:lumMod val="10000"/>
                  </a:schemeClr>
                </a:solidFill>
              </a:rPr>
              <a:t>Terdapat</a:t>
            </a:r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 Kolom </a:t>
            </a:r>
            <a:r>
              <a:rPr lang="en-US" sz="1000" dirty="0" err="1">
                <a:solidFill>
                  <a:schemeClr val="bg1">
                    <a:lumMod val="10000"/>
                  </a:schemeClr>
                </a:solidFill>
              </a:rPr>
              <a:t>Durasi</a:t>
            </a:r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1">
                    <a:lumMod val="10000"/>
                  </a:schemeClr>
                </a:solidFill>
              </a:rPr>
              <a:t>Mesin</a:t>
            </a:r>
            <a:endParaRPr lang="en-US" sz="10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9" name="Keterangan: Garis Bengkok Ganda 8">
            <a:extLst>
              <a:ext uri="{FF2B5EF4-FFF2-40B4-BE49-F238E27FC236}">
                <a16:creationId xmlns:a16="http://schemas.microsoft.com/office/drawing/2014/main" id="{BDC76656-34CF-41E3-65F7-9C6691056C25}"/>
              </a:ext>
            </a:extLst>
          </p:cNvPr>
          <p:cNvSpPr/>
          <p:nvPr/>
        </p:nvSpPr>
        <p:spPr>
          <a:xfrm>
            <a:off x="7209396" y="2179049"/>
            <a:ext cx="1281793" cy="375556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145740"/>
              <a:gd name="adj8" fmla="val -4023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Total Quantity</a:t>
            </a:r>
          </a:p>
        </p:txBody>
      </p:sp>
      <p:sp>
        <p:nvSpPr>
          <p:cNvPr id="12" name="Keterangan: Garis Bengkok Ganda 11">
            <a:extLst>
              <a:ext uri="{FF2B5EF4-FFF2-40B4-BE49-F238E27FC236}">
                <a16:creationId xmlns:a16="http://schemas.microsoft.com/office/drawing/2014/main" id="{6D5B1A19-CFC7-E5F4-41DD-7CB76B0DF3BB}"/>
              </a:ext>
            </a:extLst>
          </p:cNvPr>
          <p:cNvSpPr/>
          <p:nvPr/>
        </p:nvSpPr>
        <p:spPr>
          <a:xfrm>
            <a:off x="3617043" y="1911710"/>
            <a:ext cx="853357" cy="236015"/>
          </a:xfrm>
          <a:prstGeom prst="borderCallout3">
            <a:avLst>
              <a:gd name="adj1" fmla="val 96576"/>
              <a:gd name="adj2" fmla="val 47573"/>
              <a:gd name="adj3" fmla="val 101118"/>
              <a:gd name="adj4" fmla="val 47606"/>
              <a:gd name="adj5" fmla="val 169644"/>
              <a:gd name="adj6" fmla="val 48597"/>
              <a:gd name="adj7" fmla="val 361709"/>
              <a:gd name="adj8" fmla="val 9405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Filter Area</a:t>
            </a:r>
          </a:p>
        </p:txBody>
      </p:sp>
      <p:sp>
        <p:nvSpPr>
          <p:cNvPr id="15" name="Keterangan: Garis Bengkok Ganda 14">
            <a:extLst>
              <a:ext uri="{FF2B5EF4-FFF2-40B4-BE49-F238E27FC236}">
                <a16:creationId xmlns:a16="http://schemas.microsoft.com/office/drawing/2014/main" id="{14CC7CEC-156D-59D7-BE7A-5DD38DD1A19C}"/>
              </a:ext>
            </a:extLst>
          </p:cNvPr>
          <p:cNvSpPr/>
          <p:nvPr/>
        </p:nvSpPr>
        <p:spPr>
          <a:xfrm>
            <a:off x="2078197" y="1911711"/>
            <a:ext cx="1162050" cy="236015"/>
          </a:xfrm>
          <a:prstGeom prst="borderCallout3">
            <a:avLst>
              <a:gd name="adj1" fmla="val 96576"/>
              <a:gd name="adj2" fmla="val 47573"/>
              <a:gd name="adj3" fmla="val 101118"/>
              <a:gd name="adj4" fmla="val 47606"/>
              <a:gd name="adj5" fmla="val 173231"/>
              <a:gd name="adj6" fmla="val 48333"/>
              <a:gd name="adj7" fmla="val 339166"/>
              <a:gd name="adj8" fmla="val 113001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To Filter Tanggal</a:t>
            </a:r>
          </a:p>
        </p:txBody>
      </p:sp>
      <p:sp>
        <p:nvSpPr>
          <p:cNvPr id="16" name="Keterangan: Garis Bengkok Ganda 15">
            <a:extLst>
              <a:ext uri="{FF2B5EF4-FFF2-40B4-BE49-F238E27FC236}">
                <a16:creationId xmlns:a16="http://schemas.microsoft.com/office/drawing/2014/main" id="{DAF66373-8D6A-05D5-F648-F18B8AA65CF0}"/>
              </a:ext>
            </a:extLst>
          </p:cNvPr>
          <p:cNvSpPr/>
          <p:nvPr/>
        </p:nvSpPr>
        <p:spPr>
          <a:xfrm>
            <a:off x="390526" y="2547583"/>
            <a:ext cx="1162050" cy="353095"/>
          </a:xfrm>
          <a:prstGeom prst="borderCallout3">
            <a:avLst>
              <a:gd name="adj1" fmla="val 60608"/>
              <a:gd name="adj2" fmla="val 99303"/>
              <a:gd name="adj3" fmla="val 50763"/>
              <a:gd name="adj4" fmla="val 99337"/>
              <a:gd name="adj5" fmla="val 52853"/>
              <a:gd name="adj6" fmla="val 122651"/>
              <a:gd name="adj7" fmla="val 74983"/>
              <a:gd name="adj8" fmla="val 14578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From Filter Tanggal</a:t>
            </a:r>
          </a:p>
        </p:txBody>
      </p:sp>
      <p:sp>
        <p:nvSpPr>
          <p:cNvPr id="17" name="Keterangan: Garis Bengkok Ganda 16">
            <a:extLst>
              <a:ext uri="{FF2B5EF4-FFF2-40B4-BE49-F238E27FC236}">
                <a16:creationId xmlns:a16="http://schemas.microsoft.com/office/drawing/2014/main" id="{95B6F7C2-54AE-09E8-F030-018A2936B1ED}"/>
              </a:ext>
            </a:extLst>
          </p:cNvPr>
          <p:cNvSpPr/>
          <p:nvPr/>
        </p:nvSpPr>
        <p:spPr>
          <a:xfrm>
            <a:off x="390526" y="3150047"/>
            <a:ext cx="1025842" cy="262020"/>
          </a:xfrm>
          <a:prstGeom prst="borderCallout3">
            <a:avLst>
              <a:gd name="adj1" fmla="val 50312"/>
              <a:gd name="adj2" fmla="val 99994"/>
              <a:gd name="adj3" fmla="val 54821"/>
              <a:gd name="adj4" fmla="val 102889"/>
              <a:gd name="adj5" fmla="val 157860"/>
              <a:gd name="adj6" fmla="val 135903"/>
              <a:gd name="adj7" fmla="val 159489"/>
              <a:gd name="adj8" fmla="val 36249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Cetak Excel</a:t>
            </a:r>
          </a:p>
        </p:txBody>
      </p:sp>
      <p:pic>
        <p:nvPicPr>
          <p:cNvPr id="19" name="Gambar 18" descr="Sebuah gambar berisi teks, cuplikan layar, nomor, Font&#10;&#10;Konten yang dihasilkan AI mungkin salah.">
            <a:extLst>
              <a:ext uri="{FF2B5EF4-FFF2-40B4-BE49-F238E27FC236}">
                <a16:creationId xmlns:a16="http://schemas.microsoft.com/office/drawing/2014/main" id="{165F9828-FC6C-D8CF-F52A-51F79B4CB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26" y="1016446"/>
            <a:ext cx="1025842" cy="1420087"/>
          </a:xfrm>
          <a:prstGeom prst="rect">
            <a:avLst/>
          </a:prstGeom>
          <a:solidFill>
            <a:schemeClr val="accent2"/>
          </a:solidFill>
        </p:spPr>
      </p:pic>
      <p:pic>
        <p:nvPicPr>
          <p:cNvPr id="21" name="Gambar 20" descr="Sebuah gambar berisi teks, cuplikan layar, nomor, Font&#10;&#10;Konten yang dihasilkan AI mungkin salah.">
            <a:extLst>
              <a:ext uri="{FF2B5EF4-FFF2-40B4-BE49-F238E27FC236}">
                <a16:creationId xmlns:a16="http://schemas.microsoft.com/office/drawing/2014/main" id="{6B84EF19-9F5B-FFF3-2903-8C09CAA6DC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8196" y="740954"/>
            <a:ext cx="1071403" cy="1087760"/>
          </a:xfrm>
          <a:prstGeom prst="rect">
            <a:avLst/>
          </a:prstGeom>
          <a:solidFill>
            <a:schemeClr val="accent2"/>
          </a:solidFill>
        </p:spPr>
      </p:pic>
      <p:pic>
        <p:nvPicPr>
          <p:cNvPr id="23" name="Gambar 22" descr="Sebuah gambar berisi teks, cuplikan layar, Font, garis&#10;&#10;Konten yang dihasilkan AI mungkin salah.">
            <a:extLst>
              <a:ext uri="{FF2B5EF4-FFF2-40B4-BE49-F238E27FC236}">
                <a16:creationId xmlns:a16="http://schemas.microsoft.com/office/drawing/2014/main" id="{26FB8D5B-77B6-C2B0-3ACF-60860DFF53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8547" y="695988"/>
            <a:ext cx="1347430" cy="1164639"/>
          </a:xfrm>
          <a:prstGeom prst="rect">
            <a:avLst/>
          </a:prstGeom>
        </p:spPr>
      </p:pic>
      <p:pic>
        <p:nvPicPr>
          <p:cNvPr id="25" name="Gambar 24" descr="Sebuah gambar berisi teks, cuplikan layar, Font, nomor&#10;&#10;Konten yang dihasilkan AI mungkin salah.">
            <a:extLst>
              <a:ext uri="{FF2B5EF4-FFF2-40B4-BE49-F238E27FC236}">
                <a16:creationId xmlns:a16="http://schemas.microsoft.com/office/drawing/2014/main" id="{12268E54-68E4-E087-91C1-8A79F1480C5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7324"/>
          <a:stretch>
            <a:fillRect/>
          </a:stretch>
        </p:blipFill>
        <p:spPr>
          <a:xfrm>
            <a:off x="5025737" y="664074"/>
            <a:ext cx="1140077" cy="11646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0566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>
          <a:extLst>
            <a:ext uri="{FF2B5EF4-FFF2-40B4-BE49-F238E27FC236}">
              <a16:creationId xmlns:a16="http://schemas.microsoft.com/office/drawing/2014/main" id="{5F5A0AD0-6DAF-DD8D-E777-A6118CEA0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Judul 2">
            <a:extLst>
              <a:ext uri="{FF2B5EF4-FFF2-40B4-BE49-F238E27FC236}">
                <a16:creationId xmlns:a16="http://schemas.microsoft.com/office/drawing/2014/main" id="{3B9EDD61-B634-9472-082F-53D542B46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232755"/>
            <a:ext cx="5514975" cy="575509"/>
          </a:xfrm>
        </p:spPr>
        <p:txBody>
          <a:bodyPr/>
          <a:lstStyle/>
          <a:p>
            <a:pPr algn="l"/>
            <a:r>
              <a:rPr lang="en-US" sz="2000" dirty="0"/>
              <a:t>02. Langkah-Langkah </a:t>
            </a:r>
            <a:r>
              <a:rPr lang="en-US" sz="2000" dirty="0" err="1"/>
              <a:t>Penggunaan</a:t>
            </a:r>
            <a:endParaRPr lang="en-US" sz="2000" dirty="0"/>
          </a:p>
        </p:txBody>
      </p:sp>
      <p:pic>
        <p:nvPicPr>
          <p:cNvPr id="11" name="Gambar 10" descr="Sebuah gambar berisi teks, cuplikan layar, software, Ikon komputer&#10;&#10;Konten yang dihasilkan AI mungkin salah.">
            <a:extLst>
              <a:ext uri="{FF2B5EF4-FFF2-40B4-BE49-F238E27FC236}">
                <a16:creationId xmlns:a16="http://schemas.microsoft.com/office/drawing/2014/main" id="{45FBD99A-EA0D-BBC8-5DC6-F4F7D8FA7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1167483"/>
            <a:ext cx="3884123" cy="2182089"/>
          </a:xfrm>
          <a:prstGeom prst="rect">
            <a:avLst/>
          </a:prstGeom>
        </p:spPr>
      </p:pic>
      <p:sp>
        <p:nvSpPr>
          <p:cNvPr id="2" name="Kotak Teks 1">
            <a:extLst>
              <a:ext uri="{FF2B5EF4-FFF2-40B4-BE49-F238E27FC236}">
                <a16:creationId xmlns:a16="http://schemas.microsoft.com/office/drawing/2014/main" id="{DFA031AA-7BAF-AC45-2360-C0AB06DA6DA8}"/>
              </a:ext>
            </a:extLst>
          </p:cNvPr>
          <p:cNvSpPr txBox="1"/>
          <p:nvPr/>
        </p:nvSpPr>
        <p:spPr>
          <a:xfrm>
            <a:off x="4816928" y="1418713"/>
            <a:ext cx="3347358" cy="167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From Tanggal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To Tanggal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Area (Building / Curing), </a:t>
            </a:r>
            <a:r>
              <a:rPr lang="en-US" sz="1000" dirty="0" err="1"/>
              <a:t>maka</a:t>
            </a:r>
            <a:r>
              <a:rPr lang="en-US" sz="1000" dirty="0"/>
              <a:t> data </a:t>
            </a:r>
            <a:r>
              <a:rPr lang="en-US" sz="1000" dirty="0" err="1"/>
              <a:t>produksi</a:t>
            </a:r>
            <a:r>
              <a:rPr lang="en-US" sz="1000" dirty="0"/>
              <a:t> </a:t>
            </a:r>
            <a:r>
              <a:rPr lang="en-US" sz="1000" dirty="0" err="1"/>
              <a:t>akan</a:t>
            </a:r>
            <a:r>
              <a:rPr lang="en-US" sz="1000" dirty="0"/>
              <a:t> </a:t>
            </a:r>
            <a:r>
              <a:rPr lang="en-US" sz="1000" dirty="0" err="1"/>
              <a:t>ditampilkan</a:t>
            </a:r>
            <a:r>
              <a:rPr lang="en-US" sz="1000" dirty="0"/>
              <a:t> </a:t>
            </a:r>
            <a:r>
              <a:rPr lang="en-US" sz="1000" dirty="0" err="1"/>
              <a:t>berdasarkan</a:t>
            </a:r>
            <a:r>
              <a:rPr lang="en-US" sz="1000" dirty="0"/>
              <a:t> tanggal dan area </a:t>
            </a:r>
            <a:r>
              <a:rPr lang="en-US" sz="1000" dirty="0" err="1"/>
              <a:t>terfilter</a:t>
            </a:r>
            <a:r>
              <a:rPr lang="en-US" sz="1000" dirty="0"/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IP Code, </a:t>
            </a:r>
            <a:r>
              <a:rPr lang="en-US" sz="1000" dirty="0" err="1"/>
              <a:t>maka</a:t>
            </a:r>
            <a:r>
              <a:rPr lang="en-US" sz="1000" dirty="0"/>
              <a:t> data </a:t>
            </a:r>
            <a:r>
              <a:rPr lang="en-US" sz="1000" dirty="0" err="1"/>
              <a:t>produksi</a:t>
            </a:r>
            <a:r>
              <a:rPr lang="en-US" sz="1000" dirty="0"/>
              <a:t> </a:t>
            </a:r>
            <a:r>
              <a:rPr lang="en-US" sz="1000" dirty="0" err="1"/>
              <a:t>akan</a:t>
            </a:r>
            <a:r>
              <a:rPr lang="en-US" sz="1000" dirty="0"/>
              <a:t> </a:t>
            </a:r>
            <a:r>
              <a:rPr lang="en-US" sz="1000" dirty="0" err="1"/>
              <a:t>ditampilkan</a:t>
            </a:r>
            <a:r>
              <a:rPr lang="en-US" sz="1000" dirty="0"/>
              <a:t> </a:t>
            </a:r>
            <a:r>
              <a:rPr lang="en-US" sz="1000" dirty="0" err="1"/>
              <a:t>berdasarkan</a:t>
            </a:r>
            <a:r>
              <a:rPr lang="en-US" sz="1000" dirty="0"/>
              <a:t> tanggal, area, dan IP Code </a:t>
            </a:r>
            <a:r>
              <a:rPr lang="en-US" sz="1000" dirty="0" err="1"/>
              <a:t>terfilter</a:t>
            </a:r>
            <a:r>
              <a:rPr lang="en-US" sz="1000" dirty="0"/>
              <a:t>.</a:t>
            </a:r>
          </a:p>
        </p:txBody>
      </p:sp>
      <p:sp>
        <p:nvSpPr>
          <p:cNvPr id="3" name="Kotak Teks 2">
            <a:extLst>
              <a:ext uri="{FF2B5EF4-FFF2-40B4-BE49-F238E27FC236}">
                <a16:creationId xmlns:a16="http://schemas.microsoft.com/office/drawing/2014/main" id="{ED7E8119-8264-4D38-AA09-07605A27497C}"/>
              </a:ext>
            </a:extLst>
          </p:cNvPr>
          <p:cNvSpPr txBox="1"/>
          <p:nvPr/>
        </p:nvSpPr>
        <p:spPr>
          <a:xfrm>
            <a:off x="503105" y="3439672"/>
            <a:ext cx="4078061" cy="14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00" b="1" dirty="0"/>
              <a:t>Tabel </a:t>
            </a:r>
            <a:r>
              <a:rPr lang="en-US" sz="1000" b="1" dirty="0" err="1"/>
              <a:t>produksi</a:t>
            </a:r>
            <a:r>
              <a:rPr lang="en-US" sz="1000" dirty="0"/>
              <a:t> </a:t>
            </a:r>
            <a:r>
              <a:rPr lang="en-US" sz="1000" dirty="0" err="1"/>
              <a:t>menampilkan</a:t>
            </a:r>
            <a:r>
              <a:rPr lang="en-US" sz="1000" dirty="0"/>
              <a:t> </a:t>
            </a:r>
            <a:r>
              <a:rPr lang="en-US" sz="1000" dirty="0" err="1"/>
              <a:t>informasi</a:t>
            </a:r>
            <a:r>
              <a:rPr lang="en-US" sz="1000" dirty="0"/>
              <a:t> total </a:t>
            </a:r>
            <a:r>
              <a:rPr lang="en-US" sz="1000" dirty="0" err="1"/>
              <a:t>produksi</a:t>
            </a:r>
            <a:r>
              <a:rPr lang="en-US" sz="1000" dirty="0"/>
              <a:t> dalam </a:t>
            </a:r>
            <a:r>
              <a:rPr lang="en-US" sz="1000" dirty="0" err="1"/>
              <a:t>jangka</a:t>
            </a:r>
            <a:r>
              <a:rPr lang="en-US" sz="1000" dirty="0"/>
              <a:t> waktu </a:t>
            </a:r>
            <a:r>
              <a:rPr lang="en-US" sz="1000" dirty="0" err="1"/>
              <a:t>tertentu</a:t>
            </a:r>
            <a:r>
              <a:rPr lang="en-US" sz="1000" dirty="0"/>
              <a:t> </a:t>
            </a:r>
            <a:r>
              <a:rPr lang="en-US" sz="1000" dirty="0" err="1"/>
              <a:t>berdasarkan</a:t>
            </a:r>
            <a:r>
              <a:rPr lang="en-US" sz="1000" dirty="0"/>
              <a:t> tanggal yang </a:t>
            </a:r>
            <a:r>
              <a:rPr lang="en-US" sz="1000" dirty="0" err="1"/>
              <a:t>terfilter</a:t>
            </a:r>
            <a:r>
              <a:rPr lang="en-US" sz="1000" dirty="0"/>
              <a:t>. Tabel ini </a:t>
            </a:r>
            <a:r>
              <a:rPr lang="en-US" sz="1000" dirty="0" err="1"/>
              <a:t>dilengkapi</a:t>
            </a:r>
            <a:r>
              <a:rPr lang="en-US" sz="1000" dirty="0"/>
              <a:t> </a:t>
            </a:r>
            <a:r>
              <a:rPr lang="en-US" sz="1000" dirty="0" err="1"/>
              <a:t>dengan</a:t>
            </a:r>
            <a:r>
              <a:rPr lang="en-US" sz="1000" dirty="0"/>
              <a:t> </a:t>
            </a:r>
            <a:r>
              <a:rPr lang="en-US" sz="1000" dirty="0" err="1"/>
              <a:t>kolom</a:t>
            </a:r>
            <a:r>
              <a:rPr lang="en-US" sz="1000" dirty="0"/>
              <a:t> </a:t>
            </a:r>
            <a:r>
              <a:rPr lang="en-US" sz="1000" b="1" dirty="0" err="1"/>
              <a:t>durasi</a:t>
            </a:r>
            <a:r>
              <a:rPr lang="en-US" sz="1000" dirty="0"/>
              <a:t> yang </a:t>
            </a:r>
            <a:r>
              <a:rPr lang="en-US" sz="1000" dirty="0" err="1"/>
              <a:t>menjelaskan</a:t>
            </a:r>
            <a:r>
              <a:rPr lang="en-US" sz="1000" dirty="0"/>
              <a:t> waktu kerja </a:t>
            </a:r>
            <a:r>
              <a:rPr lang="en-US" sz="1000" dirty="0" err="1"/>
              <a:t>mesin</a:t>
            </a:r>
            <a:r>
              <a:rPr lang="en-US" sz="1000" dirty="0"/>
              <a:t> </a:t>
            </a:r>
            <a:r>
              <a:rPr lang="en-US" sz="1000" dirty="0" err="1"/>
              <a:t>dari</a:t>
            </a:r>
            <a:r>
              <a:rPr lang="en-US" sz="1000" dirty="0"/>
              <a:t> waktu </a:t>
            </a:r>
            <a:r>
              <a:rPr lang="en-US" sz="1000" dirty="0" err="1"/>
              <a:t>mulai</a:t>
            </a:r>
            <a:r>
              <a:rPr lang="en-US" sz="1000" dirty="0"/>
              <a:t> </a:t>
            </a:r>
            <a:r>
              <a:rPr lang="en-US" sz="1000" dirty="0" err="1"/>
              <a:t>hingga</a:t>
            </a:r>
            <a:r>
              <a:rPr lang="en-US" sz="1000" dirty="0"/>
              <a:t> waktu selesai, </a:t>
            </a:r>
            <a:r>
              <a:rPr lang="en-US" sz="1000" dirty="0" err="1"/>
              <a:t>serta</a:t>
            </a:r>
            <a:r>
              <a:rPr lang="en-US" sz="1000" dirty="0"/>
              <a:t> </a:t>
            </a:r>
            <a:r>
              <a:rPr lang="en-US" sz="1000" dirty="0" err="1"/>
              <a:t>jumlah</a:t>
            </a:r>
            <a:r>
              <a:rPr lang="en-US" sz="1000" dirty="0"/>
              <a:t> (</a:t>
            </a:r>
            <a:r>
              <a:rPr lang="en-US" sz="1000" i="1" dirty="0"/>
              <a:t>quantity</a:t>
            </a:r>
            <a:r>
              <a:rPr lang="en-US" sz="1000" dirty="0"/>
              <a:t>) </a:t>
            </a:r>
            <a:r>
              <a:rPr lang="en-US" sz="1000" dirty="0" err="1"/>
              <a:t>produksi</a:t>
            </a:r>
            <a:r>
              <a:rPr lang="en-US" sz="1000" dirty="0"/>
              <a:t> yang </a:t>
            </a:r>
            <a:r>
              <a:rPr lang="en-US" sz="1000" dirty="0" err="1"/>
              <a:t>dihasilkan</a:t>
            </a:r>
            <a:r>
              <a:rPr lang="en-US" sz="1000" dirty="0"/>
              <a:t>. Selain itu, menu ini juga </a:t>
            </a:r>
            <a:r>
              <a:rPr lang="en-US" sz="1000" dirty="0" err="1"/>
              <a:t>menyediakan</a:t>
            </a:r>
            <a:r>
              <a:rPr lang="en-US" sz="1000" dirty="0"/>
              <a:t> </a:t>
            </a:r>
            <a:r>
              <a:rPr lang="en-US" sz="1000" dirty="0" err="1"/>
              <a:t>fitur</a:t>
            </a:r>
            <a:r>
              <a:rPr lang="en-US" sz="1000" dirty="0"/>
              <a:t> </a:t>
            </a:r>
            <a:r>
              <a:rPr lang="en-US" sz="1000" b="1" dirty="0" err="1"/>
              <a:t>unduh</a:t>
            </a:r>
            <a:r>
              <a:rPr lang="en-US" sz="1000" b="1" dirty="0"/>
              <a:t> data dalam format Excel</a:t>
            </a:r>
            <a:r>
              <a:rPr lang="en-US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580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86E0A7DE-849D-E437-355F-749632163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Judul 2">
            <a:extLst>
              <a:ext uri="{FF2B5EF4-FFF2-40B4-BE49-F238E27FC236}">
                <a16:creationId xmlns:a16="http://schemas.microsoft.com/office/drawing/2014/main" id="{77217CEC-5E0F-857B-E3DE-18A1377CF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382" y="1474028"/>
            <a:ext cx="4335236" cy="651106"/>
          </a:xfrm>
        </p:spPr>
        <p:txBody>
          <a:bodyPr/>
          <a:lstStyle/>
          <a:p>
            <a:pPr algn="ctr"/>
            <a:r>
              <a:rPr lang="en-US" dirty="0"/>
              <a:t>Menu Materials</a:t>
            </a:r>
          </a:p>
        </p:txBody>
      </p:sp>
      <p:sp>
        <p:nvSpPr>
          <p:cNvPr id="4" name="Judul 2">
            <a:extLst>
              <a:ext uri="{FF2B5EF4-FFF2-40B4-BE49-F238E27FC236}">
                <a16:creationId xmlns:a16="http://schemas.microsoft.com/office/drawing/2014/main" id="{BDDDE9C6-3743-DE98-B0C8-2643D8E074A3}"/>
              </a:ext>
            </a:extLst>
          </p:cNvPr>
          <p:cNvSpPr txBox="1">
            <a:spLocks/>
          </p:cNvSpPr>
          <p:nvPr/>
        </p:nvSpPr>
        <p:spPr>
          <a:xfrm>
            <a:off x="755196" y="2151961"/>
            <a:ext cx="7633607" cy="1442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algn="ctr"/>
            <a:r>
              <a:rPr lang="en-US" sz="1600" b="0" dirty="0"/>
              <a:t>Menu Data Materials </a:t>
            </a:r>
            <a:r>
              <a:rPr lang="en-US" sz="1600" b="0" dirty="0" err="1"/>
              <a:t>bertujuan</a:t>
            </a:r>
            <a:r>
              <a:rPr lang="en-US" sz="1600" b="0" dirty="0"/>
              <a:t> </a:t>
            </a:r>
            <a:r>
              <a:rPr lang="en-US" sz="1600" b="0" dirty="0" err="1"/>
              <a:t>untuk</a:t>
            </a:r>
            <a:r>
              <a:rPr lang="en-US" sz="1600" b="0" dirty="0"/>
              <a:t> </a:t>
            </a:r>
            <a:r>
              <a:rPr lang="en-US" sz="1600" b="0" dirty="0" err="1"/>
              <a:t>menyajikan</a:t>
            </a:r>
            <a:r>
              <a:rPr lang="en-US" sz="1600" b="0" dirty="0"/>
              <a:t> </a:t>
            </a:r>
            <a:r>
              <a:rPr lang="en-US" sz="1600" b="0" dirty="0" err="1"/>
              <a:t>informasi</a:t>
            </a:r>
            <a:r>
              <a:rPr lang="en-US" sz="1600" b="0" dirty="0"/>
              <a:t> </a:t>
            </a:r>
            <a:r>
              <a:rPr lang="en-US" sz="1600" b="0" dirty="0" err="1"/>
              <a:t>terkait</a:t>
            </a:r>
            <a:r>
              <a:rPr lang="en-US" sz="1600" b="0" dirty="0"/>
              <a:t> proses </a:t>
            </a:r>
            <a:r>
              <a:rPr lang="en-US" sz="1600" b="0" dirty="0" err="1"/>
              <a:t>produksi</a:t>
            </a:r>
            <a:r>
              <a:rPr lang="en-US" sz="1600" b="0" dirty="0"/>
              <a:t> material </a:t>
            </a:r>
            <a:r>
              <a:rPr lang="en-US" sz="1600" b="0" dirty="0" err="1"/>
              <a:t>hingga</a:t>
            </a:r>
            <a:r>
              <a:rPr lang="en-US" sz="1600" b="0" dirty="0"/>
              <a:t> </a:t>
            </a:r>
            <a:r>
              <a:rPr lang="en-US" sz="1600" b="0" dirty="0" err="1"/>
              <a:t>turunannya</a:t>
            </a:r>
            <a:r>
              <a:rPr lang="en-US" sz="1600" b="0" dirty="0"/>
              <a:t>, </a:t>
            </a:r>
            <a:r>
              <a:rPr lang="en-US" sz="1600" b="0" dirty="0" err="1"/>
              <a:t>seperti</a:t>
            </a:r>
            <a:r>
              <a:rPr lang="en-US" sz="1600" b="0" dirty="0"/>
              <a:t> material </a:t>
            </a:r>
            <a:r>
              <a:rPr lang="en-US" sz="1600" b="0" dirty="0" err="1"/>
              <a:t>apa</a:t>
            </a:r>
            <a:r>
              <a:rPr lang="en-US" sz="1600" b="0" dirty="0"/>
              <a:t> saja yang </a:t>
            </a:r>
            <a:r>
              <a:rPr lang="en-US" sz="1600" b="0" dirty="0" err="1"/>
              <a:t>membentuk</a:t>
            </a:r>
            <a:r>
              <a:rPr lang="en-US" sz="1600" b="0" dirty="0"/>
              <a:t> </a:t>
            </a:r>
            <a:r>
              <a:rPr lang="en-US" sz="1600" b="0" dirty="0" err="1"/>
              <a:t>satu</a:t>
            </a:r>
            <a:r>
              <a:rPr lang="en-US" sz="1600" b="0" dirty="0"/>
              <a:t> ban, </a:t>
            </a:r>
            <a:r>
              <a:rPr lang="en-US" sz="1600" b="0" dirty="0" err="1"/>
              <a:t>serta</a:t>
            </a:r>
            <a:r>
              <a:rPr lang="en-US" sz="1600" b="0" dirty="0"/>
              <a:t> </a:t>
            </a:r>
            <a:r>
              <a:rPr lang="en-US" sz="1600" b="0" dirty="0" err="1"/>
              <a:t>keterkaitan</a:t>
            </a:r>
            <a:r>
              <a:rPr lang="en-US" sz="1600" b="0" dirty="0"/>
              <a:t> </a:t>
            </a:r>
            <a:r>
              <a:rPr lang="en-US" sz="1600" b="0" dirty="0" err="1"/>
              <a:t>satu</a:t>
            </a:r>
            <a:r>
              <a:rPr lang="en-US" sz="1600" b="0" dirty="0"/>
              <a:t> material </a:t>
            </a:r>
            <a:r>
              <a:rPr lang="en-US" sz="1600" b="0" dirty="0" err="1"/>
              <a:t>dengan</a:t>
            </a:r>
            <a:r>
              <a:rPr lang="en-US" sz="1600" b="0" dirty="0"/>
              <a:t> material lainnya dalam proses </a:t>
            </a:r>
            <a:r>
              <a:rPr lang="en-US" sz="1600" b="0" dirty="0" err="1"/>
              <a:t>produksi</a:t>
            </a:r>
            <a:r>
              <a:rPr lang="en-US" sz="1600" b="0" dirty="0"/>
              <a:t>.</a:t>
            </a:r>
            <a:endParaRPr lang="en-US" sz="15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687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>
          <a:extLst>
            <a:ext uri="{FF2B5EF4-FFF2-40B4-BE49-F238E27FC236}">
              <a16:creationId xmlns:a16="http://schemas.microsoft.com/office/drawing/2014/main" id="{6770C62A-CC71-CDF9-1CFA-DF0573FB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Judul 2">
            <a:extLst>
              <a:ext uri="{FF2B5EF4-FFF2-40B4-BE49-F238E27FC236}">
                <a16:creationId xmlns:a16="http://schemas.microsoft.com/office/drawing/2014/main" id="{CE059AA6-1392-F0FA-E75A-C020C8325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232755"/>
            <a:ext cx="5514975" cy="575509"/>
          </a:xfrm>
        </p:spPr>
        <p:txBody>
          <a:bodyPr/>
          <a:lstStyle/>
          <a:p>
            <a:pPr algn="l"/>
            <a:r>
              <a:rPr lang="en-US" sz="2000" dirty="0"/>
              <a:t>01. </a:t>
            </a:r>
            <a:r>
              <a:rPr lang="en-US" sz="2000" dirty="0" err="1"/>
              <a:t>Informasi</a:t>
            </a:r>
            <a:r>
              <a:rPr lang="en-US" sz="2000" dirty="0"/>
              <a:t> Fitur </a:t>
            </a:r>
          </a:p>
        </p:txBody>
      </p:sp>
      <p:pic>
        <p:nvPicPr>
          <p:cNvPr id="13" name="Gambar 12">
            <a:extLst>
              <a:ext uri="{FF2B5EF4-FFF2-40B4-BE49-F238E27FC236}">
                <a16:creationId xmlns:a16="http://schemas.microsoft.com/office/drawing/2014/main" id="{0A5A2BCC-B75B-9164-AF48-5B07DC0CB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017" y="1676010"/>
            <a:ext cx="4493516" cy="258275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4" name="Keterangan: Garis Bengkok Ganda 13">
            <a:extLst>
              <a:ext uri="{FF2B5EF4-FFF2-40B4-BE49-F238E27FC236}">
                <a16:creationId xmlns:a16="http://schemas.microsoft.com/office/drawing/2014/main" id="{A0556FEF-5386-C3D8-FB38-6B3EC8FBE282}"/>
              </a:ext>
            </a:extLst>
          </p:cNvPr>
          <p:cNvSpPr/>
          <p:nvPr/>
        </p:nvSpPr>
        <p:spPr>
          <a:xfrm>
            <a:off x="281515" y="1019769"/>
            <a:ext cx="1374928" cy="224831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511317"/>
              <a:gd name="adj8" fmla="val 13775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Filter Semi Finishing</a:t>
            </a:r>
          </a:p>
        </p:txBody>
      </p:sp>
      <p:sp>
        <p:nvSpPr>
          <p:cNvPr id="15" name="Keterangan: Garis Bengkok Ganda 14">
            <a:extLst>
              <a:ext uri="{FF2B5EF4-FFF2-40B4-BE49-F238E27FC236}">
                <a16:creationId xmlns:a16="http://schemas.microsoft.com/office/drawing/2014/main" id="{66E44F0E-A3D7-850E-81E9-3BA8CE0C0C17}"/>
              </a:ext>
            </a:extLst>
          </p:cNvPr>
          <p:cNvSpPr/>
          <p:nvPr/>
        </p:nvSpPr>
        <p:spPr>
          <a:xfrm>
            <a:off x="281515" y="2552107"/>
            <a:ext cx="1456116" cy="290636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1261"/>
              <a:gd name="adj6" fmla="val 113376"/>
              <a:gd name="adj7" fmla="val 142871"/>
              <a:gd name="adj8" fmla="val 13083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>
                    <a:lumMod val="10000"/>
                  </a:schemeClr>
                </a:solidFill>
              </a:rPr>
              <a:t>Informasi</a:t>
            </a:r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1">
                    <a:lumMod val="10000"/>
                  </a:schemeClr>
                </a:solidFill>
              </a:rPr>
              <a:t>deskripsi</a:t>
            </a:r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 material</a:t>
            </a:r>
          </a:p>
        </p:txBody>
      </p:sp>
      <p:sp>
        <p:nvSpPr>
          <p:cNvPr id="16" name="Keterangan: Garis Bengkok Ganda 15">
            <a:extLst>
              <a:ext uri="{FF2B5EF4-FFF2-40B4-BE49-F238E27FC236}">
                <a16:creationId xmlns:a16="http://schemas.microsoft.com/office/drawing/2014/main" id="{6464744B-9614-D043-4A4B-D7FC2F50F56B}"/>
              </a:ext>
            </a:extLst>
          </p:cNvPr>
          <p:cNvSpPr/>
          <p:nvPr/>
        </p:nvSpPr>
        <p:spPr>
          <a:xfrm>
            <a:off x="289483" y="3447697"/>
            <a:ext cx="1384052" cy="438908"/>
          </a:xfrm>
          <a:prstGeom prst="borderCallout3">
            <a:avLst>
              <a:gd name="adj1" fmla="val 57677"/>
              <a:gd name="adj2" fmla="val 99691"/>
              <a:gd name="adj3" fmla="val 56442"/>
              <a:gd name="adj4" fmla="val 117099"/>
              <a:gd name="adj5" fmla="val 58725"/>
              <a:gd name="adj6" fmla="val 115609"/>
              <a:gd name="adj7" fmla="val -27717"/>
              <a:gd name="adj8" fmla="val 14005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>
                    <a:lumMod val="10000"/>
                  </a:schemeClr>
                </a:solidFill>
              </a:rPr>
              <a:t>Informasi</a:t>
            </a:r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1">
                    <a:lumMod val="10000"/>
                  </a:schemeClr>
                </a:solidFill>
              </a:rPr>
              <a:t>Spesification</a:t>
            </a:r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 Material</a:t>
            </a:r>
          </a:p>
        </p:txBody>
      </p:sp>
      <p:sp>
        <p:nvSpPr>
          <p:cNvPr id="18" name="Keterangan: Garis Bengkok Ganda 17">
            <a:extLst>
              <a:ext uri="{FF2B5EF4-FFF2-40B4-BE49-F238E27FC236}">
                <a16:creationId xmlns:a16="http://schemas.microsoft.com/office/drawing/2014/main" id="{5DAA4E70-9DA0-45CA-7479-4AB6325F312D}"/>
              </a:ext>
            </a:extLst>
          </p:cNvPr>
          <p:cNvSpPr/>
          <p:nvPr/>
        </p:nvSpPr>
        <p:spPr>
          <a:xfrm>
            <a:off x="6744614" y="704727"/>
            <a:ext cx="1374928" cy="309011"/>
          </a:xfrm>
          <a:prstGeom prst="borderCallout3">
            <a:avLst>
              <a:gd name="adj1" fmla="val 51298"/>
              <a:gd name="adj2" fmla="val -530"/>
              <a:gd name="adj3" fmla="val 51299"/>
              <a:gd name="adj4" fmla="val -11837"/>
              <a:gd name="adj5" fmla="val 51147"/>
              <a:gd name="adj6" fmla="val -11819"/>
              <a:gd name="adj7" fmla="val 484064"/>
              <a:gd name="adj8" fmla="val -39341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Filter IP Materials</a:t>
            </a:r>
          </a:p>
        </p:txBody>
      </p:sp>
      <p:sp>
        <p:nvSpPr>
          <p:cNvPr id="19" name="Keterangan: Garis Bengkok Ganda 18">
            <a:extLst>
              <a:ext uri="{FF2B5EF4-FFF2-40B4-BE49-F238E27FC236}">
                <a16:creationId xmlns:a16="http://schemas.microsoft.com/office/drawing/2014/main" id="{9708FB57-4B43-830D-4115-91F788C9BB7D}"/>
              </a:ext>
            </a:extLst>
          </p:cNvPr>
          <p:cNvSpPr/>
          <p:nvPr/>
        </p:nvSpPr>
        <p:spPr>
          <a:xfrm>
            <a:off x="6791181" y="2697425"/>
            <a:ext cx="1281793" cy="375556"/>
          </a:xfrm>
          <a:prstGeom prst="borderCallout3">
            <a:avLst>
              <a:gd name="adj1" fmla="val 51298"/>
              <a:gd name="adj2" fmla="val -530"/>
              <a:gd name="adj3" fmla="val 51299"/>
              <a:gd name="adj4" fmla="val -11837"/>
              <a:gd name="adj5" fmla="val 51147"/>
              <a:gd name="adj6" fmla="val -11819"/>
              <a:gd name="adj7" fmla="val 77786"/>
              <a:gd name="adj8" fmla="val -3028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>
                    <a:lumMod val="10000"/>
                  </a:schemeClr>
                </a:solidFill>
              </a:rPr>
              <a:t>Informasi</a:t>
            </a:r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 IP Code</a:t>
            </a:r>
          </a:p>
        </p:txBody>
      </p:sp>
      <p:sp>
        <p:nvSpPr>
          <p:cNvPr id="20" name="Keterangan: Garis Bengkok Ganda 19">
            <a:extLst>
              <a:ext uri="{FF2B5EF4-FFF2-40B4-BE49-F238E27FC236}">
                <a16:creationId xmlns:a16="http://schemas.microsoft.com/office/drawing/2014/main" id="{79906CED-DF9B-C0A7-3E6E-30AF0A6DEF72}"/>
              </a:ext>
            </a:extLst>
          </p:cNvPr>
          <p:cNvSpPr/>
          <p:nvPr/>
        </p:nvSpPr>
        <p:spPr>
          <a:xfrm>
            <a:off x="6837749" y="3467487"/>
            <a:ext cx="1281793" cy="791277"/>
          </a:xfrm>
          <a:prstGeom prst="borderCallout3">
            <a:avLst>
              <a:gd name="adj1" fmla="val 51298"/>
              <a:gd name="adj2" fmla="val -530"/>
              <a:gd name="adj3" fmla="val 51299"/>
              <a:gd name="adj4" fmla="val -11837"/>
              <a:gd name="adj5" fmla="val 51147"/>
              <a:gd name="adj6" fmla="val -11819"/>
              <a:gd name="adj7" fmla="val -21217"/>
              <a:gd name="adj8" fmla="val -3552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>
                    <a:lumMod val="10000"/>
                  </a:schemeClr>
                </a:solidFill>
              </a:rPr>
              <a:t>Informasi</a:t>
            </a:r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 Status Material </a:t>
            </a:r>
          </a:p>
          <a:p>
            <a:pPr algn="ctr"/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(ACTIVE / INACTIVE)</a:t>
            </a:r>
          </a:p>
        </p:txBody>
      </p:sp>
      <p:sp>
        <p:nvSpPr>
          <p:cNvPr id="21" name="Keterangan: Garis Bengkok Ganda 20">
            <a:extLst>
              <a:ext uri="{FF2B5EF4-FFF2-40B4-BE49-F238E27FC236}">
                <a16:creationId xmlns:a16="http://schemas.microsoft.com/office/drawing/2014/main" id="{BEDDC619-683F-6C0A-BD21-FF1961BCC8D1}"/>
              </a:ext>
            </a:extLst>
          </p:cNvPr>
          <p:cNvSpPr/>
          <p:nvPr/>
        </p:nvSpPr>
        <p:spPr>
          <a:xfrm>
            <a:off x="289483" y="4006583"/>
            <a:ext cx="1384052" cy="538214"/>
          </a:xfrm>
          <a:prstGeom prst="borderCallout3">
            <a:avLst>
              <a:gd name="adj1" fmla="val 32325"/>
              <a:gd name="adj2" fmla="val 99691"/>
              <a:gd name="adj3" fmla="val 32498"/>
              <a:gd name="adj4" fmla="val 114866"/>
              <a:gd name="adj5" fmla="val 33373"/>
              <a:gd name="adj6" fmla="val 114865"/>
              <a:gd name="adj7" fmla="val -30765"/>
              <a:gd name="adj8" fmla="val 148722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>
                    <a:lumMod val="10000"/>
                  </a:schemeClr>
                </a:solidFill>
              </a:rPr>
              <a:t>Tombol</a:t>
            </a:r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1">
                    <a:lumMod val="10000"/>
                  </a:schemeClr>
                </a:solidFill>
              </a:rPr>
              <a:t>untuk</a:t>
            </a:r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1">
                    <a:lumMod val="10000"/>
                  </a:schemeClr>
                </a:solidFill>
              </a:rPr>
              <a:t>melihat</a:t>
            </a:r>
            <a:r>
              <a:rPr lang="en-US" sz="10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1">
                    <a:lumMod val="10000"/>
                  </a:schemeClr>
                </a:solidFill>
              </a:rPr>
              <a:t>turunannya</a:t>
            </a:r>
            <a:endParaRPr lang="en-US" sz="1000" dirty="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23" name="Gambar 22" descr="Sebuah gambar berisi teks, cuplikan layar, garis, Font&#10;&#10;Konten yang dihasilkan AI mungkin salah.">
            <a:extLst>
              <a:ext uri="{FF2B5EF4-FFF2-40B4-BE49-F238E27FC236}">
                <a16:creationId xmlns:a16="http://schemas.microsoft.com/office/drawing/2014/main" id="{AF97BCC0-8925-09A4-2EEB-C4B1519E79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6547"/>
          <a:stretch>
            <a:fillRect/>
          </a:stretch>
        </p:blipFill>
        <p:spPr>
          <a:xfrm>
            <a:off x="289482" y="1334385"/>
            <a:ext cx="1570319" cy="9663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Gambar 24" descr="Sebuah gambar berisi teks, cuplikan layar, Font, nomor&#10;&#10;Konten yang dihasilkan AI mungkin salah.">
            <a:extLst>
              <a:ext uri="{FF2B5EF4-FFF2-40B4-BE49-F238E27FC236}">
                <a16:creationId xmlns:a16="http://schemas.microsoft.com/office/drawing/2014/main" id="{AE02ED05-328E-7AFD-3227-1181CA4F46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181" y="1107376"/>
            <a:ext cx="1328361" cy="14539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87545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>
          <a:extLst>
            <a:ext uri="{FF2B5EF4-FFF2-40B4-BE49-F238E27FC236}">
              <a16:creationId xmlns:a16="http://schemas.microsoft.com/office/drawing/2014/main" id="{8F8F0110-CF72-BE22-6862-54CF929E6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Judul 2">
            <a:extLst>
              <a:ext uri="{FF2B5EF4-FFF2-40B4-BE49-F238E27FC236}">
                <a16:creationId xmlns:a16="http://schemas.microsoft.com/office/drawing/2014/main" id="{0B1CD2EC-5581-5170-9900-11590A7C2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232755"/>
            <a:ext cx="5514975" cy="575509"/>
          </a:xfrm>
        </p:spPr>
        <p:txBody>
          <a:bodyPr/>
          <a:lstStyle/>
          <a:p>
            <a:pPr algn="l"/>
            <a:r>
              <a:rPr lang="en-US" sz="2000" dirty="0"/>
              <a:t>02. Langkah-Langkah </a:t>
            </a:r>
            <a:r>
              <a:rPr lang="en-US" sz="2000" dirty="0" err="1"/>
              <a:t>Penggunaan</a:t>
            </a:r>
            <a:endParaRPr lang="en-US" sz="2000" dirty="0"/>
          </a:p>
        </p:txBody>
      </p:sp>
      <p:pic>
        <p:nvPicPr>
          <p:cNvPr id="2" name="Gambar 1">
            <a:extLst>
              <a:ext uri="{FF2B5EF4-FFF2-40B4-BE49-F238E27FC236}">
                <a16:creationId xmlns:a16="http://schemas.microsoft.com/office/drawing/2014/main" id="{96E3272B-BA7E-2775-BA2A-5A5CE1634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1521695"/>
            <a:ext cx="3653804" cy="210011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" name="Kotak Teks 2">
            <a:extLst>
              <a:ext uri="{FF2B5EF4-FFF2-40B4-BE49-F238E27FC236}">
                <a16:creationId xmlns:a16="http://schemas.microsoft.com/office/drawing/2014/main" id="{30570566-CA9D-B41F-5B17-EB2494EDD3A4}"/>
              </a:ext>
            </a:extLst>
          </p:cNvPr>
          <p:cNvSpPr txBox="1"/>
          <p:nvPr/>
        </p:nvSpPr>
        <p:spPr>
          <a:xfrm>
            <a:off x="4359728" y="1240913"/>
            <a:ext cx="4004626" cy="98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Semi Finishing, </a:t>
            </a:r>
            <a:r>
              <a:rPr lang="en-US" sz="1000" dirty="0" err="1"/>
              <a:t>maka</a:t>
            </a:r>
            <a:r>
              <a:rPr lang="en-US" sz="1000" dirty="0"/>
              <a:t> data </a:t>
            </a:r>
            <a:r>
              <a:rPr lang="en-US" sz="1000" dirty="0" err="1"/>
              <a:t>akan</a:t>
            </a:r>
            <a:r>
              <a:rPr lang="en-US" sz="1000" dirty="0"/>
              <a:t> </a:t>
            </a:r>
            <a:r>
              <a:rPr lang="en-US" sz="1000" dirty="0" err="1"/>
              <a:t>ditampilkan</a:t>
            </a:r>
            <a:r>
              <a:rPr lang="en-US" sz="1000" dirty="0"/>
              <a:t> </a:t>
            </a:r>
            <a:r>
              <a:rPr lang="en-US" sz="1000" dirty="0" err="1"/>
              <a:t>berdasarkan</a:t>
            </a:r>
            <a:r>
              <a:rPr lang="en-US" sz="1000" dirty="0"/>
              <a:t> IP Materials yang </a:t>
            </a:r>
            <a:r>
              <a:rPr lang="en-US" sz="1000" dirty="0" err="1"/>
              <a:t>terfilter</a:t>
            </a:r>
            <a:r>
              <a:rPr lang="en-US" sz="1000" dirty="0"/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IP Materials, </a:t>
            </a:r>
            <a:r>
              <a:rPr lang="en-US" sz="1000" dirty="0" err="1"/>
              <a:t>maka</a:t>
            </a:r>
            <a:r>
              <a:rPr lang="en-US" sz="1000" dirty="0"/>
              <a:t> </a:t>
            </a:r>
            <a:r>
              <a:rPr lang="en-US" sz="1000" dirty="0" err="1"/>
              <a:t>informasi</a:t>
            </a:r>
            <a:r>
              <a:rPr lang="en-US" sz="1000" dirty="0"/>
              <a:t> detail material &amp; daftar material </a:t>
            </a:r>
            <a:r>
              <a:rPr lang="en-US" sz="1000" dirty="0" err="1"/>
              <a:t>akan</a:t>
            </a:r>
            <a:r>
              <a:rPr lang="en-US" sz="1000" dirty="0"/>
              <a:t> di </a:t>
            </a:r>
            <a:r>
              <a:rPr lang="en-US" sz="1000" dirty="0" err="1"/>
              <a:t>tampilkan</a:t>
            </a:r>
            <a:r>
              <a:rPr lang="en-US" sz="1000" dirty="0"/>
              <a:t> </a:t>
            </a:r>
            <a:r>
              <a:rPr lang="en-US" sz="1000" dirty="0" err="1"/>
              <a:t>sampai</a:t>
            </a:r>
            <a:r>
              <a:rPr lang="en-US" sz="1000" dirty="0"/>
              <a:t> </a:t>
            </a:r>
            <a:r>
              <a:rPr lang="en-US" sz="1000" dirty="0" err="1"/>
              <a:t>dengan</a:t>
            </a:r>
            <a:r>
              <a:rPr lang="en-US" sz="1000" dirty="0"/>
              <a:t> </a:t>
            </a:r>
            <a:r>
              <a:rPr lang="en-US" sz="1000" dirty="0" err="1"/>
              <a:t>turunannya</a:t>
            </a:r>
            <a:r>
              <a:rPr lang="en-US" sz="1000" dirty="0"/>
              <a:t>.</a:t>
            </a:r>
          </a:p>
        </p:txBody>
      </p:sp>
      <p:sp>
        <p:nvSpPr>
          <p:cNvPr id="4" name="Kotak Teks 3">
            <a:extLst>
              <a:ext uri="{FF2B5EF4-FFF2-40B4-BE49-F238E27FC236}">
                <a16:creationId xmlns:a16="http://schemas.microsoft.com/office/drawing/2014/main" id="{173A9E21-DA4A-317F-CB36-A009ABD58A96}"/>
              </a:ext>
            </a:extLst>
          </p:cNvPr>
          <p:cNvSpPr txBox="1"/>
          <p:nvPr/>
        </p:nvSpPr>
        <p:spPr>
          <a:xfrm>
            <a:off x="4441371" y="2453792"/>
            <a:ext cx="4102554" cy="14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b="1" dirty="0" err="1"/>
              <a:t>Deskripsi</a:t>
            </a:r>
            <a:r>
              <a:rPr lang="en-US" sz="1000" dirty="0"/>
              <a:t> : </a:t>
            </a:r>
            <a:r>
              <a:rPr lang="en-US" sz="1000" dirty="0" err="1"/>
              <a:t>Menjelaskan</a:t>
            </a:r>
            <a:r>
              <a:rPr lang="en-US" sz="1000" dirty="0"/>
              <a:t> </a:t>
            </a:r>
            <a:r>
              <a:rPr lang="en-US" sz="1000" dirty="0" err="1"/>
              <a:t>deskripsi</a:t>
            </a:r>
            <a:r>
              <a:rPr lang="en-US" sz="1000" dirty="0"/>
              <a:t> </a:t>
            </a:r>
            <a:r>
              <a:rPr lang="en-US" sz="1000" dirty="0" err="1"/>
              <a:t>dari</a:t>
            </a:r>
            <a:r>
              <a:rPr lang="en-US" sz="1000" dirty="0"/>
              <a:t> </a:t>
            </a:r>
            <a:r>
              <a:rPr lang="en-US" sz="1000" b="1" dirty="0"/>
              <a:t>IP Material</a:t>
            </a:r>
            <a:r>
              <a:rPr lang="en-US" sz="1000" dirty="0"/>
              <a:t> yang </a:t>
            </a:r>
            <a:r>
              <a:rPr lang="en-US" sz="1000" dirty="0" err="1"/>
              <a:t>terfilter</a:t>
            </a:r>
            <a:r>
              <a:rPr lang="en-US" sz="1000" dirty="0"/>
              <a:t>.</a:t>
            </a:r>
            <a:br>
              <a:rPr lang="en-US" sz="1000" dirty="0"/>
            </a:br>
            <a:r>
              <a:rPr lang="en-US" sz="1000" b="1" dirty="0"/>
              <a:t>IP Code</a:t>
            </a:r>
            <a:r>
              <a:rPr lang="en-US" sz="1000" dirty="0"/>
              <a:t> : </a:t>
            </a:r>
            <a:r>
              <a:rPr lang="en-US" sz="1000" dirty="0" err="1"/>
              <a:t>Identitas</a:t>
            </a:r>
            <a:r>
              <a:rPr lang="en-US" sz="1000" dirty="0"/>
              <a:t> material.</a:t>
            </a:r>
            <a:br>
              <a:rPr lang="en-US" sz="1000" dirty="0"/>
            </a:br>
            <a:r>
              <a:rPr lang="en-US" sz="1000" b="1" dirty="0"/>
              <a:t>Specification</a:t>
            </a:r>
            <a:r>
              <a:rPr lang="en-US" sz="1000" dirty="0"/>
              <a:t> : </a:t>
            </a:r>
            <a:r>
              <a:rPr lang="en-US" sz="1000" dirty="0" err="1"/>
              <a:t>Menjelaskan</a:t>
            </a:r>
            <a:r>
              <a:rPr lang="en-US" sz="1000" dirty="0"/>
              <a:t> </a:t>
            </a:r>
            <a:r>
              <a:rPr lang="en-US" sz="1000" dirty="0" err="1"/>
              <a:t>spesifikasi</a:t>
            </a:r>
            <a:r>
              <a:rPr lang="en-US" sz="1000" dirty="0"/>
              <a:t> </a:t>
            </a:r>
            <a:r>
              <a:rPr lang="en-US" sz="1000" dirty="0" err="1"/>
              <a:t>dari</a:t>
            </a:r>
            <a:r>
              <a:rPr lang="en-US" sz="1000" dirty="0"/>
              <a:t> material yang </a:t>
            </a:r>
            <a:r>
              <a:rPr lang="en-US" sz="1000" dirty="0" err="1"/>
              <a:t>terfilter</a:t>
            </a:r>
            <a:r>
              <a:rPr lang="en-US" sz="1000" dirty="0"/>
              <a:t>.</a:t>
            </a:r>
            <a:br>
              <a:rPr lang="en-US" sz="1000" dirty="0"/>
            </a:br>
            <a:r>
              <a:rPr lang="en-US" sz="1000" b="1" dirty="0"/>
              <a:t>Status</a:t>
            </a:r>
            <a:r>
              <a:rPr lang="en-US" sz="1000" dirty="0"/>
              <a:t> : </a:t>
            </a:r>
            <a:r>
              <a:rPr lang="en-US" sz="1000" dirty="0" err="1"/>
              <a:t>Menunjukkan</a:t>
            </a:r>
            <a:r>
              <a:rPr lang="en-US" sz="1000" dirty="0"/>
              <a:t> status material, </a:t>
            </a:r>
            <a:r>
              <a:rPr lang="en-US" sz="1000" dirty="0" err="1"/>
              <a:t>yaitu</a:t>
            </a:r>
            <a:r>
              <a:rPr lang="en-US" sz="1000" dirty="0"/>
              <a:t> </a:t>
            </a:r>
            <a:r>
              <a:rPr lang="en-US" sz="1000" b="1" dirty="0"/>
              <a:t>Active</a:t>
            </a:r>
            <a:r>
              <a:rPr lang="en-US" sz="1000" dirty="0"/>
              <a:t> atau </a:t>
            </a:r>
            <a:r>
              <a:rPr lang="en-US" sz="1000" b="1" dirty="0"/>
              <a:t>Inactive</a:t>
            </a:r>
            <a:r>
              <a:rPr lang="en-US" sz="1000" dirty="0"/>
              <a:t>.</a:t>
            </a:r>
            <a:br>
              <a:rPr lang="en-US" sz="1000" dirty="0"/>
            </a:br>
            <a:r>
              <a:rPr lang="en-US" sz="1000" b="1" dirty="0"/>
              <a:t>Daftar Material</a:t>
            </a:r>
            <a:r>
              <a:rPr lang="en-US" sz="1000" dirty="0"/>
              <a:t> : </a:t>
            </a:r>
            <a:r>
              <a:rPr lang="en-US" sz="1000" dirty="0" err="1"/>
              <a:t>Menampilkan</a:t>
            </a:r>
            <a:r>
              <a:rPr lang="en-US" sz="1000" dirty="0"/>
              <a:t> data </a:t>
            </a:r>
            <a:r>
              <a:rPr lang="en-US" sz="1000" dirty="0" err="1"/>
              <a:t>komposisi</a:t>
            </a:r>
            <a:r>
              <a:rPr lang="en-US" sz="1000" dirty="0"/>
              <a:t> </a:t>
            </a:r>
            <a:r>
              <a:rPr lang="en-US" sz="1000" dirty="0" err="1"/>
              <a:t>pembentukan</a:t>
            </a:r>
            <a:r>
              <a:rPr lang="en-US" sz="1000" dirty="0"/>
              <a:t> ban </a:t>
            </a:r>
            <a:r>
              <a:rPr lang="en-US" sz="1000" dirty="0" err="1"/>
              <a:t>berdasarkan</a:t>
            </a:r>
            <a:r>
              <a:rPr lang="en-US" sz="1000" dirty="0"/>
              <a:t> </a:t>
            </a:r>
            <a:r>
              <a:rPr lang="en-US" sz="1000" b="1" dirty="0"/>
              <a:t>IP Code</a:t>
            </a:r>
            <a:r>
              <a:rPr lang="en-US" sz="1000" dirty="0"/>
              <a:t>, </a:t>
            </a:r>
            <a:r>
              <a:rPr lang="en-US" sz="1000" dirty="0" err="1"/>
              <a:t>hingga</a:t>
            </a:r>
            <a:r>
              <a:rPr lang="en-US" sz="1000" dirty="0"/>
              <a:t> ke material </a:t>
            </a:r>
            <a:r>
              <a:rPr lang="en-US" sz="1000" dirty="0" err="1"/>
              <a:t>turunan</a:t>
            </a:r>
            <a:r>
              <a:rPr lang="en-US" sz="1000" dirty="0"/>
              <a:t> (</a:t>
            </a:r>
            <a:r>
              <a:rPr lang="en-US" sz="1000" i="1" dirty="0"/>
              <a:t>child material</a:t>
            </a:r>
            <a:r>
              <a:rPr lang="en-US" sz="1000" dirty="0"/>
              <a:t>).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855873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DA14C28D-6CCD-90EC-3403-BA8D5826E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Judul 2">
            <a:extLst>
              <a:ext uri="{FF2B5EF4-FFF2-40B4-BE49-F238E27FC236}">
                <a16:creationId xmlns:a16="http://schemas.microsoft.com/office/drawing/2014/main" id="{6FE9377E-1668-BFD4-9449-9FFC111D7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897" y="1318907"/>
            <a:ext cx="5890532" cy="651106"/>
          </a:xfrm>
        </p:spPr>
        <p:txBody>
          <a:bodyPr/>
          <a:lstStyle/>
          <a:p>
            <a:pPr algn="ctr"/>
            <a:r>
              <a:rPr lang="en-US" dirty="0"/>
              <a:t>Traceability By Machine</a:t>
            </a:r>
          </a:p>
        </p:txBody>
      </p:sp>
      <p:sp>
        <p:nvSpPr>
          <p:cNvPr id="4" name="Judul 2">
            <a:extLst>
              <a:ext uri="{FF2B5EF4-FFF2-40B4-BE49-F238E27FC236}">
                <a16:creationId xmlns:a16="http://schemas.microsoft.com/office/drawing/2014/main" id="{6B20F249-B229-BDE4-06DE-0496235CA975}"/>
              </a:ext>
            </a:extLst>
          </p:cNvPr>
          <p:cNvSpPr txBox="1">
            <a:spLocks/>
          </p:cNvSpPr>
          <p:nvPr/>
        </p:nvSpPr>
        <p:spPr>
          <a:xfrm>
            <a:off x="847926" y="2172145"/>
            <a:ext cx="7633607" cy="1203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algn="ctr"/>
            <a:r>
              <a:rPr lang="en-US" sz="1600" b="0" dirty="0"/>
              <a:t>Traceability By Machine </a:t>
            </a:r>
            <a:r>
              <a:rPr lang="en-US" sz="1600" b="0" dirty="0" err="1"/>
              <a:t>berfungsi</a:t>
            </a:r>
            <a:r>
              <a:rPr lang="en-US" sz="1600" b="0" dirty="0"/>
              <a:t> </a:t>
            </a:r>
            <a:r>
              <a:rPr lang="en-US" sz="1600" b="0" dirty="0" err="1"/>
              <a:t>untuk</a:t>
            </a:r>
            <a:r>
              <a:rPr lang="en-US" sz="1600" b="0" dirty="0"/>
              <a:t> </a:t>
            </a:r>
            <a:r>
              <a:rPr lang="en-US" sz="1600" b="0" dirty="0" err="1"/>
              <a:t>melacak</a:t>
            </a:r>
            <a:r>
              <a:rPr lang="en-US" sz="1600" b="0" dirty="0"/>
              <a:t> dan </a:t>
            </a:r>
            <a:r>
              <a:rPr lang="en-US" sz="1600" b="0" dirty="0" err="1"/>
              <a:t>menampilkan</a:t>
            </a:r>
            <a:r>
              <a:rPr lang="en-US" sz="1600" b="0" dirty="0"/>
              <a:t> </a:t>
            </a:r>
            <a:r>
              <a:rPr lang="en-US" sz="1600" b="0" dirty="0" err="1"/>
              <a:t>riwayat</a:t>
            </a:r>
            <a:r>
              <a:rPr lang="en-US" sz="1600" b="0" dirty="0"/>
              <a:t> proses </a:t>
            </a:r>
            <a:r>
              <a:rPr lang="en-US" sz="1600" b="0" dirty="0" err="1"/>
              <a:t>produksi</a:t>
            </a:r>
            <a:r>
              <a:rPr lang="en-US" sz="1600" b="0" dirty="0"/>
              <a:t> </a:t>
            </a:r>
            <a:r>
              <a:rPr lang="en-US" sz="1600" b="0" dirty="0" err="1"/>
              <a:t>berdasarkan</a:t>
            </a:r>
            <a:r>
              <a:rPr lang="en-US" sz="1600" b="0" dirty="0"/>
              <a:t> </a:t>
            </a:r>
            <a:r>
              <a:rPr lang="en-US" sz="1600" b="0" dirty="0" err="1"/>
              <a:t>mesin</a:t>
            </a:r>
            <a:r>
              <a:rPr lang="en-US" sz="1600" b="0" dirty="0"/>
              <a:t> yang </a:t>
            </a:r>
            <a:r>
              <a:rPr lang="en-US" sz="1600" b="0" dirty="0" err="1"/>
              <a:t>digunakan</a:t>
            </a:r>
            <a:r>
              <a:rPr lang="en-US" sz="1600" b="0" dirty="0"/>
              <a:t>.</a:t>
            </a:r>
            <a:endParaRPr lang="en-US" sz="15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907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>
          <a:extLst>
            <a:ext uri="{FF2B5EF4-FFF2-40B4-BE49-F238E27FC236}">
              <a16:creationId xmlns:a16="http://schemas.microsoft.com/office/drawing/2014/main" id="{DD642242-2072-9599-DD1F-07AA38ABC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Judul 2">
            <a:extLst>
              <a:ext uri="{FF2B5EF4-FFF2-40B4-BE49-F238E27FC236}">
                <a16:creationId xmlns:a16="http://schemas.microsoft.com/office/drawing/2014/main" id="{124D83C7-5CE7-B14B-09E9-2B9C7E45A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232755"/>
            <a:ext cx="5514975" cy="575509"/>
          </a:xfrm>
        </p:spPr>
        <p:txBody>
          <a:bodyPr/>
          <a:lstStyle/>
          <a:p>
            <a:pPr algn="l"/>
            <a:r>
              <a:rPr lang="en-US" sz="2000" dirty="0"/>
              <a:t>01. </a:t>
            </a:r>
            <a:r>
              <a:rPr lang="en-US" sz="2000" dirty="0" err="1"/>
              <a:t>Informasi</a:t>
            </a:r>
            <a:r>
              <a:rPr lang="en-US" sz="2000" dirty="0"/>
              <a:t> Fitur </a:t>
            </a:r>
          </a:p>
        </p:txBody>
      </p:sp>
      <p:pic>
        <p:nvPicPr>
          <p:cNvPr id="12" name="Gambar 11" descr="Sebuah gambar berisi teks, cuplikan layar, software, Laman internet&#10;&#10;Konten yang dihasilkan AI mungkin salah.">
            <a:extLst>
              <a:ext uri="{FF2B5EF4-FFF2-40B4-BE49-F238E27FC236}">
                <a16:creationId xmlns:a16="http://schemas.microsoft.com/office/drawing/2014/main" id="{3C26E9DA-63B3-4925-7258-4F2F7FD1F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947" y="1853310"/>
            <a:ext cx="4516106" cy="2569566"/>
          </a:xfrm>
          <a:prstGeom prst="rect">
            <a:avLst/>
          </a:prstGeom>
        </p:spPr>
      </p:pic>
      <p:sp>
        <p:nvSpPr>
          <p:cNvPr id="22" name="Keterangan: Garis Bengkok Ganda 21">
            <a:extLst>
              <a:ext uri="{FF2B5EF4-FFF2-40B4-BE49-F238E27FC236}">
                <a16:creationId xmlns:a16="http://schemas.microsoft.com/office/drawing/2014/main" id="{97CE123A-2DF9-9FA7-9492-F353B1D40390}"/>
              </a:ext>
            </a:extLst>
          </p:cNvPr>
          <p:cNvSpPr/>
          <p:nvPr/>
        </p:nvSpPr>
        <p:spPr>
          <a:xfrm>
            <a:off x="736600" y="883696"/>
            <a:ext cx="1168400" cy="304797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459258"/>
              <a:gd name="adj8" fmla="val 15138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From Filter Tanggal &amp; Shift</a:t>
            </a:r>
          </a:p>
        </p:txBody>
      </p:sp>
      <p:sp>
        <p:nvSpPr>
          <p:cNvPr id="23" name="Keterangan: Garis Bengkok Ganda 22">
            <a:extLst>
              <a:ext uri="{FF2B5EF4-FFF2-40B4-BE49-F238E27FC236}">
                <a16:creationId xmlns:a16="http://schemas.microsoft.com/office/drawing/2014/main" id="{6EDE7B95-EA3C-FBC5-B703-64EE71C74D90}"/>
              </a:ext>
            </a:extLst>
          </p:cNvPr>
          <p:cNvSpPr/>
          <p:nvPr/>
        </p:nvSpPr>
        <p:spPr>
          <a:xfrm>
            <a:off x="736600" y="2375565"/>
            <a:ext cx="1168400" cy="190531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109594"/>
              <a:gd name="adj8" fmla="val 15148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Filter Machine</a:t>
            </a:r>
          </a:p>
        </p:txBody>
      </p:sp>
      <p:sp>
        <p:nvSpPr>
          <p:cNvPr id="24" name="Keterangan: Garis Bengkok Ganda 23">
            <a:extLst>
              <a:ext uri="{FF2B5EF4-FFF2-40B4-BE49-F238E27FC236}">
                <a16:creationId xmlns:a16="http://schemas.microsoft.com/office/drawing/2014/main" id="{79710338-AE85-4B58-0866-C61355A401A5}"/>
              </a:ext>
            </a:extLst>
          </p:cNvPr>
          <p:cNvSpPr/>
          <p:nvPr/>
        </p:nvSpPr>
        <p:spPr>
          <a:xfrm>
            <a:off x="736600" y="3601702"/>
            <a:ext cx="1168400" cy="263500"/>
          </a:xfrm>
          <a:prstGeom prst="borderCallout3">
            <a:avLst>
              <a:gd name="adj1" fmla="val 32325"/>
              <a:gd name="adj2" fmla="val 99691"/>
              <a:gd name="adj3" fmla="val 29258"/>
              <a:gd name="adj4" fmla="val 100269"/>
              <a:gd name="adj5" fmla="val 30112"/>
              <a:gd name="adj6" fmla="val 100590"/>
              <a:gd name="adj7" fmla="val -295972"/>
              <a:gd name="adj8" fmla="val 15458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Tombol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Reset Filter</a:t>
            </a:r>
          </a:p>
        </p:txBody>
      </p:sp>
      <p:sp>
        <p:nvSpPr>
          <p:cNvPr id="26" name="Keterangan: Garis Bengkok Ganda 25">
            <a:extLst>
              <a:ext uri="{FF2B5EF4-FFF2-40B4-BE49-F238E27FC236}">
                <a16:creationId xmlns:a16="http://schemas.microsoft.com/office/drawing/2014/main" id="{A8CA1F38-5983-C2F4-7E39-1E3510E295E6}"/>
              </a:ext>
            </a:extLst>
          </p:cNvPr>
          <p:cNvSpPr/>
          <p:nvPr/>
        </p:nvSpPr>
        <p:spPr>
          <a:xfrm>
            <a:off x="6888417" y="1452555"/>
            <a:ext cx="1168401" cy="344342"/>
          </a:xfrm>
          <a:prstGeom prst="borderCallout3">
            <a:avLst>
              <a:gd name="adj1" fmla="val 51298"/>
              <a:gd name="adj2" fmla="val -530"/>
              <a:gd name="adj3" fmla="val 51299"/>
              <a:gd name="adj4" fmla="val -11837"/>
              <a:gd name="adj5" fmla="val 51147"/>
              <a:gd name="adj6" fmla="val -11819"/>
              <a:gd name="adj7" fmla="val 230454"/>
              <a:gd name="adj8" fmla="val -3416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Filter Production Phase</a:t>
            </a:r>
          </a:p>
        </p:txBody>
      </p:sp>
      <p:sp>
        <p:nvSpPr>
          <p:cNvPr id="27" name="Keterangan: Garis Bengkok Ganda 26">
            <a:extLst>
              <a:ext uri="{FF2B5EF4-FFF2-40B4-BE49-F238E27FC236}">
                <a16:creationId xmlns:a16="http://schemas.microsoft.com/office/drawing/2014/main" id="{5DAEE27C-2E69-F387-2A36-7A5C5589C774}"/>
              </a:ext>
            </a:extLst>
          </p:cNvPr>
          <p:cNvSpPr/>
          <p:nvPr/>
        </p:nvSpPr>
        <p:spPr>
          <a:xfrm>
            <a:off x="2514600" y="720624"/>
            <a:ext cx="1376362" cy="214993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680933"/>
              <a:gd name="adj8" fmla="val 112788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To Filter Tanggal &amp; Shift</a:t>
            </a:r>
          </a:p>
        </p:txBody>
      </p:sp>
      <p:sp>
        <p:nvSpPr>
          <p:cNvPr id="28" name="Keterangan: Garis Bengkok Ganda 27">
            <a:extLst>
              <a:ext uri="{FF2B5EF4-FFF2-40B4-BE49-F238E27FC236}">
                <a16:creationId xmlns:a16="http://schemas.microsoft.com/office/drawing/2014/main" id="{4DF14E78-1C79-9BAF-72BB-2E797A706AAD}"/>
              </a:ext>
            </a:extLst>
          </p:cNvPr>
          <p:cNvSpPr/>
          <p:nvPr/>
        </p:nvSpPr>
        <p:spPr>
          <a:xfrm>
            <a:off x="4642835" y="731535"/>
            <a:ext cx="932543" cy="214993"/>
          </a:xfrm>
          <a:prstGeom prst="borderCallout3">
            <a:avLst>
              <a:gd name="adj1" fmla="val 51298"/>
              <a:gd name="adj2" fmla="val -530"/>
              <a:gd name="adj3" fmla="val 51299"/>
              <a:gd name="adj4" fmla="val -11837"/>
              <a:gd name="adj5" fmla="val 51147"/>
              <a:gd name="adj6" fmla="val -11819"/>
              <a:gd name="adj7" fmla="val 829605"/>
              <a:gd name="adj8" fmla="val -1290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Filter FL Phase</a:t>
            </a:r>
          </a:p>
        </p:txBody>
      </p:sp>
      <p:pic>
        <p:nvPicPr>
          <p:cNvPr id="30" name="Gambar 29" descr="Sebuah gambar berisi teks, cuplikan layar, nomor, Font&#10;&#10;Konten yang dihasilkan AI mungkin salah.">
            <a:extLst>
              <a:ext uri="{FF2B5EF4-FFF2-40B4-BE49-F238E27FC236}">
                <a16:creationId xmlns:a16="http://schemas.microsoft.com/office/drawing/2014/main" id="{D6915658-670E-13D7-AD3E-510404119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01" y="1278298"/>
            <a:ext cx="1423987" cy="10215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2" name="Gambar 31" descr="Sebuah gambar berisi teks, cuplikan layar, Font, nomor&#10;&#10;Konten yang dihasilkan AI mungkin salah.">
            <a:extLst>
              <a:ext uri="{FF2B5EF4-FFF2-40B4-BE49-F238E27FC236}">
                <a16:creationId xmlns:a16="http://schemas.microsoft.com/office/drawing/2014/main" id="{0823A325-D553-624D-7A1B-8297249DDC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5821" y="1872115"/>
            <a:ext cx="1755579" cy="13037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4" name="Gambar 33" descr="Sebuah gambar berisi teks, cuplikan layar, nomor, Font&#10;&#10;Konten yang dihasilkan AI mungkin salah.">
            <a:extLst>
              <a:ext uri="{FF2B5EF4-FFF2-40B4-BE49-F238E27FC236}">
                <a16:creationId xmlns:a16="http://schemas.microsoft.com/office/drawing/2014/main" id="{C2C203CD-464D-34CE-06E4-42F0205C97B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30" b="34302"/>
          <a:stretch>
            <a:fillRect/>
          </a:stretch>
        </p:blipFill>
        <p:spPr>
          <a:xfrm>
            <a:off x="2514600" y="1036095"/>
            <a:ext cx="1423987" cy="6879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6" name="Gambar 35" descr="Sebuah gambar berisi teks, cuplikan layar, Font, garis&#10;&#10;Konten yang dihasilkan AI mungkin salah.">
            <a:extLst>
              <a:ext uri="{FF2B5EF4-FFF2-40B4-BE49-F238E27FC236}">
                <a16:creationId xmlns:a16="http://schemas.microsoft.com/office/drawing/2014/main" id="{8E7AA6AA-A0E6-A464-0EE3-538E99E11F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501" y="2637602"/>
            <a:ext cx="1423987" cy="8220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8" name="Gambar 37" descr="Sebuah gambar berisi teks, cuplikan layar, garis, Font&#10;&#10;Konten yang dihasilkan AI mungkin salah.">
            <a:extLst>
              <a:ext uri="{FF2B5EF4-FFF2-40B4-BE49-F238E27FC236}">
                <a16:creationId xmlns:a16="http://schemas.microsoft.com/office/drawing/2014/main" id="{CDC7BB80-E4EE-F9A5-FA92-E8C1C8182E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2835" y="1001110"/>
            <a:ext cx="1415919" cy="7579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9" name="Keterangan: Garis Bengkok Ganda 38">
            <a:extLst>
              <a:ext uri="{FF2B5EF4-FFF2-40B4-BE49-F238E27FC236}">
                <a16:creationId xmlns:a16="http://schemas.microsoft.com/office/drawing/2014/main" id="{34F8D864-265A-34C3-123F-8A4D7A8FD481}"/>
              </a:ext>
            </a:extLst>
          </p:cNvPr>
          <p:cNvSpPr/>
          <p:nvPr/>
        </p:nvSpPr>
        <p:spPr>
          <a:xfrm>
            <a:off x="600074" y="4164538"/>
            <a:ext cx="1304925" cy="449795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-66248"/>
              <a:gd name="adj8" fmla="val 15050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>
                    <a:lumMod val="10000"/>
                  </a:schemeClr>
                </a:solidFill>
              </a:rPr>
              <a:t>Traceability Views</a:t>
            </a:r>
          </a:p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“Data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pelacakan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sampai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dengan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turunannya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9487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>
          <a:extLst>
            <a:ext uri="{FF2B5EF4-FFF2-40B4-BE49-F238E27FC236}">
              <a16:creationId xmlns:a16="http://schemas.microsoft.com/office/drawing/2014/main" id="{98A98536-7811-29B4-0A2B-A1510AD8E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Judul 2">
            <a:extLst>
              <a:ext uri="{FF2B5EF4-FFF2-40B4-BE49-F238E27FC236}">
                <a16:creationId xmlns:a16="http://schemas.microsoft.com/office/drawing/2014/main" id="{D2917EF7-ECAE-6463-82BE-75DC27099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232755"/>
            <a:ext cx="5514975" cy="575509"/>
          </a:xfrm>
        </p:spPr>
        <p:txBody>
          <a:bodyPr/>
          <a:lstStyle/>
          <a:p>
            <a:pPr algn="l"/>
            <a:r>
              <a:rPr lang="en-US" sz="2000" dirty="0"/>
              <a:t>02. Langkah-Langkah </a:t>
            </a:r>
            <a:r>
              <a:rPr lang="en-US" sz="2000" dirty="0" err="1"/>
              <a:t>Penggunaan</a:t>
            </a:r>
            <a:endParaRPr lang="en-US" sz="2000" dirty="0"/>
          </a:p>
        </p:txBody>
      </p:sp>
      <p:sp>
        <p:nvSpPr>
          <p:cNvPr id="2" name="Kotak Teks 1">
            <a:extLst>
              <a:ext uri="{FF2B5EF4-FFF2-40B4-BE49-F238E27FC236}">
                <a16:creationId xmlns:a16="http://schemas.microsoft.com/office/drawing/2014/main" id="{4D5F8417-22F1-B714-3012-D364BB12D560}"/>
              </a:ext>
            </a:extLst>
          </p:cNvPr>
          <p:cNvSpPr txBox="1"/>
          <p:nvPr/>
        </p:nvSpPr>
        <p:spPr>
          <a:xfrm>
            <a:off x="4319088" y="979011"/>
            <a:ext cx="3347358" cy="1910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from tanggal &amp; shift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to tanggal &amp; shift (</a:t>
            </a:r>
            <a:r>
              <a:rPr lang="en-US" sz="1000" dirty="0" err="1"/>
              <a:t>maka</a:t>
            </a:r>
            <a:r>
              <a:rPr lang="en-US" sz="1000" dirty="0"/>
              <a:t> </a:t>
            </a:r>
            <a:r>
              <a:rPr lang="en-US" sz="1000" dirty="0" err="1"/>
              <a:t>akan</a:t>
            </a:r>
            <a:r>
              <a:rPr lang="en-US" sz="1000" dirty="0"/>
              <a:t> </a:t>
            </a:r>
            <a:r>
              <a:rPr lang="en-US" sz="1000" dirty="0" err="1"/>
              <a:t>tampil</a:t>
            </a:r>
            <a:r>
              <a:rPr lang="en-US" sz="1000" dirty="0"/>
              <a:t> filter data production phase)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production phase (</a:t>
            </a:r>
            <a:r>
              <a:rPr lang="en-US" sz="1000" dirty="0" err="1"/>
              <a:t>maka</a:t>
            </a:r>
            <a:r>
              <a:rPr lang="en-US" sz="1000" dirty="0"/>
              <a:t> </a:t>
            </a:r>
            <a:r>
              <a:rPr lang="en-US" sz="1000" dirty="0" err="1"/>
              <a:t>akan</a:t>
            </a:r>
            <a:r>
              <a:rPr lang="en-US" sz="1000" dirty="0"/>
              <a:t> </a:t>
            </a:r>
            <a:r>
              <a:rPr lang="en-US" sz="1000" dirty="0" err="1"/>
              <a:t>tampil</a:t>
            </a:r>
            <a:r>
              <a:rPr lang="en-US" sz="1000" dirty="0"/>
              <a:t> data filter machine)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machine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FL Phase (Maka data traceability View </a:t>
            </a:r>
            <a:r>
              <a:rPr lang="en-US" sz="1000" dirty="0" err="1"/>
              <a:t>akan</a:t>
            </a:r>
            <a:r>
              <a:rPr lang="en-US" sz="1000" dirty="0"/>
              <a:t> </a:t>
            </a:r>
            <a:r>
              <a:rPr lang="en-US" sz="1000" dirty="0" err="1"/>
              <a:t>tampil</a:t>
            </a:r>
            <a:r>
              <a:rPr lang="en-US" sz="1000" dirty="0"/>
              <a:t>)</a:t>
            </a:r>
          </a:p>
        </p:txBody>
      </p:sp>
      <p:pic>
        <p:nvPicPr>
          <p:cNvPr id="4" name="Gambar 3" descr="Sebuah gambar berisi teks, cuplikan layar, software, Laman internet&#10;&#10;Konten yang dihasilkan AI mungkin salah.">
            <a:extLst>
              <a:ext uri="{FF2B5EF4-FFF2-40B4-BE49-F238E27FC236}">
                <a16:creationId xmlns:a16="http://schemas.microsoft.com/office/drawing/2014/main" id="{06919D9D-8A38-CAE3-23D3-369507D7A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76" y="894676"/>
            <a:ext cx="3753931" cy="213590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Kotak Teks 4">
            <a:extLst>
              <a:ext uri="{FF2B5EF4-FFF2-40B4-BE49-F238E27FC236}">
                <a16:creationId xmlns:a16="http://schemas.microsoft.com/office/drawing/2014/main" id="{6C6D91A8-C9F0-A70D-AABF-39ACA08AE9DB}"/>
              </a:ext>
            </a:extLst>
          </p:cNvPr>
          <p:cNvSpPr txBox="1"/>
          <p:nvPr/>
        </p:nvSpPr>
        <p:spPr>
          <a:xfrm>
            <a:off x="369033" y="3060217"/>
            <a:ext cx="4578524" cy="1910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00" b="1" dirty="0"/>
              <a:t>PEMBACAAN</a:t>
            </a:r>
          </a:p>
          <a:p>
            <a:pPr marL="228600" indent="-228600" algn="just">
              <a:lnSpc>
                <a:spcPct val="150000"/>
              </a:lnSpc>
              <a:buAutoNum type="arabicPeriod"/>
            </a:pPr>
            <a:r>
              <a:rPr lang="en-US" sz="1000" dirty="0" err="1"/>
              <a:t>Apabila</a:t>
            </a:r>
            <a:r>
              <a:rPr lang="en-US" sz="1000" dirty="0"/>
              <a:t> FL Phase yang </a:t>
            </a:r>
            <a:r>
              <a:rPr lang="en-US" sz="1000" dirty="0" err="1"/>
              <a:t>terpilih</a:t>
            </a:r>
            <a:r>
              <a:rPr lang="en-US" sz="1000" dirty="0"/>
              <a:t> Adalah consumed </a:t>
            </a:r>
            <a:r>
              <a:rPr lang="en-US" sz="1000" dirty="0" err="1"/>
              <a:t>maka</a:t>
            </a:r>
            <a:r>
              <a:rPr lang="en-US" sz="1000" dirty="0"/>
              <a:t> </a:t>
            </a:r>
            <a:r>
              <a:rPr lang="en-US" sz="1000" dirty="0" err="1"/>
              <a:t>pembacaannya</a:t>
            </a:r>
            <a:r>
              <a:rPr lang="en-US" sz="1000" dirty="0"/>
              <a:t>. </a:t>
            </a:r>
          </a:p>
          <a:p>
            <a:pPr marL="228600" indent="-228600" algn="just">
              <a:lnSpc>
                <a:spcPct val="150000"/>
              </a:lnSpc>
              <a:buAutoNum type="alphaLcPeriod"/>
            </a:pPr>
            <a:r>
              <a:rPr lang="en-US" sz="1000" dirty="0"/>
              <a:t>Baris 1 = Adalah barcode material yang </a:t>
            </a:r>
            <a:r>
              <a:rPr lang="en-US" sz="1000" dirty="0" err="1"/>
              <a:t>mengconsumed</a:t>
            </a:r>
            <a:r>
              <a:rPr lang="en-US" sz="1000" dirty="0"/>
              <a:t> </a:t>
            </a:r>
          </a:p>
          <a:p>
            <a:pPr marL="228600" indent="-228600" algn="just">
              <a:lnSpc>
                <a:spcPct val="150000"/>
              </a:lnSpc>
              <a:buAutoNum type="alphaLcPeriod"/>
            </a:pPr>
            <a:r>
              <a:rPr lang="en-US" sz="1000" dirty="0"/>
              <a:t>Baris 2 = Adalah </a:t>
            </a:r>
            <a:r>
              <a:rPr lang="en-US" sz="1000" dirty="0" err="1"/>
              <a:t>mesin</a:t>
            </a:r>
            <a:r>
              <a:rPr lang="en-US" sz="1000" dirty="0"/>
              <a:t> yang </a:t>
            </a:r>
            <a:r>
              <a:rPr lang="en-US" sz="1000" dirty="0" err="1"/>
              <a:t>memproduced</a:t>
            </a:r>
            <a:endParaRPr lang="en-US" sz="1000" dirty="0"/>
          </a:p>
          <a:p>
            <a:pPr algn="just">
              <a:lnSpc>
                <a:spcPct val="150000"/>
              </a:lnSpc>
            </a:pPr>
            <a:endParaRPr lang="en-US" sz="1000" b="1" dirty="0"/>
          </a:p>
          <a:p>
            <a:pPr algn="just">
              <a:lnSpc>
                <a:spcPct val="150000"/>
              </a:lnSpc>
            </a:pPr>
            <a:r>
              <a:rPr lang="en-US" sz="1000" dirty="0"/>
              <a:t>2.    </a:t>
            </a:r>
            <a:r>
              <a:rPr lang="en-US" sz="1000" dirty="0" err="1"/>
              <a:t>Apabila</a:t>
            </a:r>
            <a:r>
              <a:rPr lang="en-US" sz="1000" dirty="0"/>
              <a:t> FL Phase yang </a:t>
            </a:r>
            <a:r>
              <a:rPr lang="en-US" sz="1000" dirty="0" err="1"/>
              <a:t>terpilih</a:t>
            </a:r>
            <a:r>
              <a:rPr lang="en-US" sz="1000" dirty="0"/>
              <a:t> Adalah produced </a:t>
            </a:r>
            <a:r>
              <a:rPr lang="en-US" sz="1000" dirty="0" err="1"/>
              <a:t>maka</a:t>
            </a:r>
            <a:r>
              <a:rPr lang="en-US" sz="1000" dirty="0"/>
              <a:t> </a:t>
            </a:r>
            <a:r>
              <a:rPr lang="en-US" sz="1000" dirty="0" err="1"/>
              <a:t>pembacaannya</a:t>
            </a:r>
            <a:r>
              <a:rPr lang="en-US" sz="1000" dirty="0"/>
              <a:t>.</a:t>
            </a:r>
          </a:p>
          <a:p>
            <a:pPr marL="228600" indent="-228600" algn="just">
              <a:lnSpc>
                <a:spcPct val="150000"/>
              </a:lnSpc>
              <a:buAutoNum type="alphaLcPeriod"/>
            </a:pPr>
            <a:r>
              <a:rPr lang="en-US" sz="1000" dirty="0"/>
              <a:t>Baris 1 = Adalah barcode material yang </a:t>
            </a:r>
            <a:r>
              <a:rPr lang="en-US" sz="1000" dirty="0" err="1"/>
              <a:t>terproduced</a:t>
            </a:r>
            <a:r>
              <a:rPr lang="en-US" sz="1000" dirty="0"/>
              <a:t> </a:t>
            </a:r>
          </a:p>
          <a:p>
            <a:pPr marL="228600" indent="-228600" algn="just">
              <a:lnSpc>
                <a:spcPct val="150000"/>
              </a:lnSpc>
              <a:buAutoNum type="alphaLcPeriod"/>
            </a:pPr>
            <a:r>
              <a:rPr lang="en-US" sz="1000" dirty="0"/>
              <a:t>Baris 2 = Adalah </a:t>
            </a:r>
            <a:r>
              <a:rPr lang="en-US" sz="1000" dirty="0" err="1"/>
              <a:t>mesin</a:t>
            </a:r>
            <a:r>
              <a:rPr lang="en-US" sz="1000" dirty="0"/>
              <a:t> yang </a:t>
            </a:r>
            <a:r>
              <a:rPr lang="en-US" sz="1000" dirty="0" err="1"/>
              <a:t>mengconsumed</a:t>
            </a:r>
            <a:r>
              <a:rPr lang="en-US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1065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11262C31-35CD-1459-D568-A5111623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Judul 2">
            <a:extLst>
              <a:ext uri="{FF2B5EF4-FFF2-40B4-BE49-F238E27FC236}">
                <a16:creationId xmlns:a16="http://schemas.microsoft.com/office/drawing/2014/main" id="{684682EE-DE27-572F-C4F0-2ED893B2C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212" y="1014107"/>
            <a:ext cx="5890532" cy="651106"/>
          </a:xfrm>
        </p:spPr>
        <p:txBody>
          <a:bodyPr/>
          <a:lstStyle/>
          <a:p>
            <a:pPr algn="ctr"/>
            <a:r>
              <a:rPr lang="en-US" dirty="0"/>
              <a:t>Traceability </a:t>
            </a:r>
            <a:br>
              <a:rPr lang="en-US" dirty="0"/>
            </a:br>
            <a:r>
              <a:rPr lang="en-US" dirty="0"/>
              <a:t>By Containment Unit (CU)</a:t>
            </a:r>
          </a:p>
        </p:txBody>
      </p:sp>
      <p:sp>
        <p:nvSpPr>
          <p:cNvPr id="4" name="Judul 2">
            <a:extLst>
              <a:ext uri="{FF2B5EF4-FFF2-40B4-BE49-F238E27FC236}">
                <a16:creationId xmlns:a16="http://schemas.microsoft.com/office/drawing/2014/main" id="{FA546667-2D6B-6D68-3B7D-CCC9DC2D9A9A}"/>
              </a:ext>
            </a:extLst>
          </p:cNvPr>
          <p:cNvSpPr txBox="1">
            <a:spLocks/>
          </p:cNvSpPr>
          <p:nvPr/>
        </p:nvSpPr>
        <p:spPr>
          <a:xfrm>
            <a:off x="828674" y="2240947"/>
            <a:ext cx="7633607" cy="98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algn="ctr"/>
            <a:r>
              <a:rPr lang="en-US" sz="1600" b="0" dirty="0"/>
              <a:t>Traceability By Containment Unit (CU) </a:t>
            </a:r>
            <a:r>
              <a:rPr lang="en-US" sz="1600" b="0" dirty="0" err="1"/>
              <a:t>berfungsi</a:t>
            </a:r>
            <a:r>
              <a:rPr lang="en-US" sz="1600" b="0" dirty="0"/>
              <a:t> </a:t>
            </a:r>
            <a:r>
              <a:rPr lang="en-US" sz="1600" b="0" dirty="0" err="1"/>
              <a:t>untuk</a:t>
            </a:r>
            <a:r>
              <a:rPr lang="en-US" sz="1600" b="0" dirty="0"/>
              <a:t> </a:t>
            </a:r>
            <a:r>
              <a:rPr lang="en-US" sz="1600" b="0" dirty="0" err="1"/>
              <a:t>melacak</a:t>
            </a:r>
            <a:r>
              <a:rPr lang="en-US" sz="1600" b="0" dirty="0"/>
              <a:t> dan </a:t>
            </a:r>
            <a:r>
              <a:rPr lang="en-US" sz="1600" b="0" dirty="0" err="1"/>
              <a:t>menampilkan</a:t>
            </a:r>
            <a:r>
              <a:rPr lang="en-US" sz="1600" b="0" dirty="0"/>
              <a:t> </a:t>
            </a:r>
            <a:r>
              <a:rPr lang="en-US" sz="1600" b="0" dirty="0" err="1"/>
              <a:t>riwayat</a:t>
            </a:r>
            <a:r>
              <a:rPr lang="en-US" sz="1600" b="0" dirty="0"/>
              <a:t> proses </a:t>
            </a:r>
            <a:r>
              <a:rPr lang="en-US" sz="1600" b="0" dirty="0" err="1"/>
              <a:t>produksi</a:t>
            </a:r>
            <a:r>
              <a:rPr lang="en-US" sz="1600" b="0" dirty="0"/>
              <a:t> </a:t>
            </a:r>
            <a:r>
              <a:rPr lang="en-US" sz="1600" b="0" dirty="0" err="1"/>
              <a:t>berdasarkan</a:t>
            </a:r>
            <a:r>
              <a:rPr lang="en-US" sz="1600" b="0" dirty="0"/>
              <a:t> CU yang </a:t>
            </a:r>
            <a:r>
              <a:rPr lang="en-US" sz="1600" b="0" dirty="0" err="1"/>
              <a:t>digunakan</a:t>
            </a:r>
            <a:r>
              <a:rPr lang="en-US" sz="1600" b="0" dirty="0"/>
              <a:t>.</a:t>
            </a:r>
            <a:endParaRPr lang="en-US" sz="15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23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>
          <a:extLst>
            <a:ext uri="{FF2B5EF4-FFF2-40B4-BE49-F238E27FC236}">
              <a16:creationId xmlns:a16="http://schemas.microsoft.com/office/drawing/2014/main" id="{58189368-371E-6EB2-E41E-97CB3D055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Judul 2">
            <a:extLst>
              <a:ext uri="{FF2B5EF4-FFF2-40B4-BE49-F238E27FC236}">
                <a16:creationId xmlns:a16="http://schemas.microsoft.com/office/drawing/2014/main" id="{D4E44C3F-C27A-755C-232F-C2A214B14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593" y="318407"/>
            <a:ext cx="5290457" cy="489857"/>
          </a:xfrm>
        </p:spPr>
        <p:txBody>
          <a:bodyPr/>
          <a:lstStyle/>
          <a:p>
            <a:pPr algn="l"/>
            <a:r>
              <a:rPr lang="en-US" sz="2000" dirty="0"/>
              <a:t>01. </a:t>
            </a:r>
            <a:r>
              <a:rPr lang="en-US" sz="2000" dirty="0" err="1"/>
              <a:t>Informasi</a:t>
            </a:r>
            <a:r>
              <a:rPr lang="en-US" sz="2000" dirty="0"/>
              <a:t> Fitur </a:t>
            </a:r>
          </a:p>
        </p:txBody>
      </p:sp>
      <p:pic>
        <p:nvPicPr>
          <p:cNvPr id="3" name="Gambar 2" descr="Sebuah gambar berisi teks, cuplikan layar, software, nomor&#10;&#10;Konten yang dihasilkan AI mungkin salah.">
            <a:extLst>
              <a:ext uri="{FF2B5EF4-FFF2-40B4-BE49-F238E27FC236}">
                <a16:creationId xmlns:a16="http://schemas.microsoft.com/office/drawing/2014/main" id="{FA5ECB3E-8F85-D21C-9285-F98D85944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008" y="1860655"/>
            <a:ext cx="4062509" cy="2428507"/>
          </a:xfrm>
          <a:prstGeom prst="rect">
            <a:avLst/>
          </a:prstGeom>
        </p:spPr>
      </p:pic>
      <p:sp>
        <p:nvSpPr>
          <p:cNvPr id="5" name="Keterangan: Garis Bengkok Ganda 4">
            <a:extLst>
              <a:ext uri="{FF2B5EF4-FFF2-40B4-BE49-F238E27FC236}">
                <a16:creationId xmlns:a16="http://schemas.microsoft.com/office/drawing/2014/main" id="{901E1564-AE5F-D5D0-D8BE-8F803BBEE996}"/>
              </a:ext>
            </a:extLst>
          </p:cNvPr>
          <p:cNvSpPr/>
          <p:nvPr/>
        </p:nvSpPr>
        <p:spPr>
          <a:xfrm>
            <a:off x="736600" y="883696"/>
            <a:ext cx="1168400" cy="304797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459258"/>
              <a:gd name="adj8" fmla="val 15138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From Filter Tanggal &amp; Shift</a:t>
            </a:r>
          </a:p>
        </p:txBody>
      </p:sp>
      <p:sp>
        <p:nvSpPr>
          <p:cNvPr id="6" name="Keterangan: Garis Bengkok Ganda 5">
            <a:extLst>
              <a:ext uri="{FF2B5EF4-FFF2-40B4-BE49-F238E27FC236}">
                <a16:creationId xmlns:a16="http://schemas.microsoft.com/office/drawing/2014/main" id="{0D056B5E-5EBC-F35B-83DE-0DC012CA6689}"/>
              </a:ext>
            </a:extLst>
          </p:cNvPr>
          <p:cNvSpPr/>
          <p:nvPr/>
        </p:nvSpPr>
        <p:spPr>
          <a:xfrm>
            <a:off x="600074" y="2375565"/>
            <a:ext cx="1304926" cy="223625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64161"/>
              <a:gd name="adj8" fmla="val 14759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Filter Containment Unit</a:t>
            </a:r>
          </a:p>
        </p:txBody>
      </p:sp>
      <p:sp>
        <p:nvSpPr>
          <p:cNvPr id="8" name="Keterangan: Garis Bengkok Ganda 7">
            <a:extLst>
              <a:ext uri="{FF2B5EF4-FFF2-40B4-BE49-F238E27FC236}">
                <a16:creationId xmlns:a16="http://schemas.microsoft.com/office/drawing/2014/main" id="{5D4C5C8F-BBCF-DD0C-70E3-E93C313DEBB9}"/>
              </a:ext>
            </a:extLst>
          </p:cNvPr>
          <p:cNvSpPr/>
          <p:nvPr/>
        </p:nvSpPr>
        <p:spPr>
          <a:xfrm>
            <a:off x="736600" y="3780888"/>
            <a:ext cx="1168400" cy="263500"/>
          </a:xfrm>
          <a:prstGeom prst="borderCallout3">
            <a:avLst>
              <a:gd name="adj1" fmla="val 32325"/>
              <a:gd name="adj2" fmla="val 99691"/>
              <a:gd name="adj3" fmla="val 29258"/>
              <a:gd name="adj4" fmla="val 100269"/>
              <a:gd name="adj5" fmla="val 30112"/>
              <a:gd name="adj6" fmla="val 100590"/>
              <a:gd name="adj7" fmla="val -392367"/>
              <a:gd name="adj8" fmla="val 15168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Tombol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Reset Filter</a:t>
            </a:r>
          </a:p>
        </p:txBody>
      </p:sp>
      <p:sp>
        <p:nvSpPr>
          <p:cNvPr id="9" name="Keterangan: Garis Bengkok Ganda 8">
            <a:extLst>
              <a:ext uri="{FF2B5EF4-FFF2-40B4-BE49-F238E27FC236}">
                <a16:creationId xmlns:a16="http://schemas.microsoft.com/office/drawing/2014/main" id="{CC454F14-3C08-8FA0-8C04-E7BD56388C19}"/>
              </a:ext>
            </a:extLst>
          </p:cNvPr>
          <p:cNvSpPr/>
          <p:nvPr/>
        </p:nvSpPr>
        <p:spPr>
          <a:xfrm>
            <a:off x="6888417" y="1452555"/>
            <a:ext cx="1168401" cy="344342"/>
          </a:xfrm>
          <a:prstGeom prst="borderCallout3">
            <a:avLst>
              <a:gd name="adj1" fmla="val 51298"/>
              <a:gd name="adj2" fmla="val -530"/>
              <a:gd name="adj3" fmla="val 51299"/>
              <a:gd name="adj4" fmla="val -11837"/>
              <a:gd name="adj5" fmla="val 51147"/>
              <a:gd name="adj6" fmla="val -11819"/>
              <a:gd name="adj7" fmla="val 225537"/>
              <a:gd name="adj8" fmla="val -6894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Filter Source</a:t>
            </a:r>
          </a:p>
        </p:txBody>
      </p:sp>
      <p:pic>
        <p:nvPicPr>
          <p:cNvPr id="10" name="Gambar 9" descr="Sebuah gambar berisi teks, cuplikan layar, nomor, Font&#10;&#10;Konten yang dihasilkan AI mungkin salah.">
            <a:extLst>
              <a:ext uri="{FF2B5EF4-FFF2-40B4-BE49-F238E27FC236}">
                <a16:creationId xmlns:a16="http://schemas.microsoft.com/office/drawing/2014/main" id="{63B70EA9-B1A0-64F9-6679-589B978AA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01" y="1278298"/>
            <a:ext cx="1423987" cy="10215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Gambar 11" descr="Sebuah gambar berisi teks, cuplikan layar, nomor, Font&#10;&#10;Konten yang dihasilkan AI mungkin salah.">
            <a:extLst>
              <a:ext uri="{FF2B5EF4-FFF2-40B4-BE49-F238E27FC236}">
                <a16:creationId xmlns:a16="http://schemas.microsoft.com/office/drawing/2014/main" id="{C28F9848-9C4F-DB5B-ADF6-61B5AF0984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30" b="34302"/>
          <a:stretch>
            <a:fillRect/>
          </a:stretch>
        </p:blipFill>
        <p:spPr>
          <a:xfrm>
            <a:off x="2514600" y="1054164"/>
            <a:ext cx="1423987" cy="6879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Gambar 13" descr="Sebuah gambar berisi teks, cuplikan layar, garis, Font&#10;&#10;Konten yang dihasilkan AI mungkin salah.">
            <a:extLst>
              <a:ext uri="{FF2B5EF4-FFF2-40B4-BE49-F238E27FC236}">
                <a16:creationId xmlns:a16="http://schemas.microsoft.com/office/drawing/2014/main" id="{CF01FA6C-EDA7-A595-864F-68E553106C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2835" y="1038984"/>
            <a:ext cx="1415919" cy="7579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Keterangan: Garis Bengkok Ganda 14">
            <a:extLst>
              <a:ext uri="{FF2B5EF4-FFF2-40B4-BE49-F238E27FC236}">
                <a16:creationId xmlns:a16="http://schemas.microsoft.com/office/drawing/2014/main" id="{2E1570DF-E39A-C3BB-25F7-B92D571AE95A}"/>
              </a:ext>
            </a:extLst>
          </p:cNvPr>
          <p:cNvSpPr/>
          <p:nvPr/>
        </p:nvSpPr>
        <p:spPr>
          <a:xfrm>
            <a:off x="600074" y="4164538"/>
            <a:ext cx="1304925" cy="449795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-36130"/>
              <a:gd name="adj8" fmla="val 14661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>
                    <a:lumMod val="10000"/>
                  </a:schemeClr>
                </a:solidFill>
              </a:rPr>
              <a:t>Traceability Views</a:t>
            </a:r>
          </a:p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“Data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pelacakan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sampai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dengan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turunannya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”</a:t>
            </a:r>
          </a:p>
        </p:txBody>
      </p:sp>
      <p:sp>
        <p:nvSpPr>
          <p:cNvPr id="16" name="Keterangan: Garis Bengkok Ganda 15">
            <a:extLst>
              <a:ext uri="{FF2B5EF4-FFF2-40B4-BE49-F238E27FC236}">
                <a16:creationId xmlns:a16="http://schemas.microsoft.com/office/drawing/2014/main" id="{FD610217-CB71-2FA5-5F41-F31BE29BA196}"/>
              </a:ext>
            </a:extLst>
          </p:cNvPr>
          <p:cNvSpPr/>
          <p:nvPr/>
        </p:nvSpPr>
        <p:spPr>
          <a:xfrm>
            <a:off x="2514600" y="720624"/>
            <a:ext cx="1376362" cy="214993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680933"/>
              <a:gd name="adj8" fmla="val 112788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To Filter Tanggal &amp; Shift</a:t>
            </a:r>
          </a:p>
        </p:txBody>
      </p:sp>
      <p:sp>
        <p:nvSpPr>
          <p:cNvPr id="17" name="Keterangan: Garis Bengkok Ganda 16">
            <a:extLst>
              <a:ext uri="{FF2B5EF4-FFF2-40B4-BE49-F238E27FC236}">
                <a16:creationId xmlns:a16="http://schemas.microsoft.com/office/drawing/2014/main" id="{8964B35E-7D5F-0B32-E6A4-C8170E0D5DF4}"/>
              </a:ext>
            </a:extLst>
          </p:cNvPr>
          <p:cNvSpPr/>
          <p:nvPr/>
        </p:nvSpPr>
        <p:spPr>
          <a:xfrm>
            <a:off x="4642835" y="731535"/>
            <a:ext cx="932543" cy="214993"/>
          </a:xfrm>
          <a:prstGeom prst="borderCallout3">
            <a:avLst>
              <a:gd name="adj1" fmla="val 51298"/>
              <a:gd name="adj2" fmla="val -530"/>
              <a:gd name="adj3" fmla="val 51299"/>
              <a:gd name="adj4" fmla="val -11837"/>
              <a:gd name="adj5" fmla="val 51147"/>
              <a:gd name="adj6" fmla="val -11819"/>
              <a:gd name="adj7" fmla="val 779113"/>
              <a:gd name="adj8" fmla="val -23512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Filter FL Phase</a:t>
            </a:r>
          </a:p>
        </p:txBody>
      </p:sp>
      <p:pic>
        <p:nvPicPr>
          <p:cNvPr id="19" name="Gambar 18" descr="Sebuah gambar berisi teks, cuplikan layar, Font, nomor&#10;&#10;Konten yang dihasilkan AI mungkin salah.">
            <a:extLst>
              <a:ext uri="{FF2B5EF4-FFF2-40B4-BE49-F238E27FC236}">
                <a16:creationId xmlns:a16="http://schemas.microsoft.com/office/drawing/2014/main" id="{F6394D66-F93D-5D3E-F47C-31D8C9C59C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3476" y="1948172"/>
            <a:ext cx="1963023" cy="14977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Gambar 20" descr="Sebuah gambar berisi teks, cuplikan layar, Font, nomor&#10;&#10;Konten yang dihasilkan AI mungkin salah.">
            <a:extLst>
              <a:ext uri="{FF2B5EF4-FFF2-40B4-BE49-F238E27FC236}">
                <a16:creationId xmlns:a16="http://schemas.microsoft.com/office/drawing/2014/main" id="{6B62BA5D-7D63-8822-572A-949C87318D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501" y="2674901"/>
            <a:ext cx="1423987" cy="9858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61866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>
          <a:extLst>
            <a:ext uri="{FF2B5EF4-FFF2-40B4-BE49-F238E27FC236}">
              <a16:creationId xmlns:a16="http://schemas.microsoft.com/office/drawing/2014/main" id="{5922618A-DFA0-EFA7-151E-4E869B3A2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Judul 2">
            <a:extLst>
              <a:ext uri="{FF2B5EF4-FFF2-40B4-BE49-F238E27FC236}">
                <a16:creationId xmlns:a16="http://schemas.microsoft.com/office/drawing/2014/main" id="{656709A2-712C-2529-DFE8-9E85AC8B6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232755"/>
            <a:ext cx="5514975" cy="575509"/>
          </a:xfrm>
        </p:spPr>
        <p:txBody>
          <a:bodyPr/>
          <a:lstStyle/>
          <a:p>
            <a:pPr algn="l"/>
            <a:r>
              <a:rPr lang="en-US" sz="2000" dirty="0"/>
              <a:t>02. Langkah – Langkah </a:t>
            </a:r>
            <a:r>
              <a:rPr lang="en-US" sz="2000" dirty="0" err="1"/>
              <a:t>Penggunaan</a:t>
            </a:r>
            <a:endParaRPr lang="en-US" sz="2000" dirty="0"/>
          </a:p>
        </p:txBody>
      </p:sp>
      <p:pic>
        <p:nvPicPr>
          <p:cNvPr id="3" name="Gambar 2" descr="Sebuah gambar berisi teks, cuplikan layar, software, nomor&#10;&#10;Konten yang dihasilkan AI mungkin salah.">
            <a:extLst>
              <a:ext uri="{FF2B5EF4-FFF2-40B4-BE49-F238E27FC236}">
                <a16:creationId xmlns:a16="http://schemas.microsoft.com/office/drawing/2014/main" id="{EEF1B16B-EBB5-45DA-4976-FBC42C82A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33" y="879777"/>
            <a:ext cx="3823754" cy="2180440"/>
          </a:xfrm>
          <a:prstGeom prst="rect">
            <a:avLst/>
          </a:prstGeom>
        </p:spPr>
      </p:pic>
      <p:sp>
        <p:nvSpPr>
          <p:cNvPr id="2" name="Kotak Teks 1">
            <a:extLst>
              <a:ext uri="{FF2B5EF4-FFF2-40B4-BE49-F238E27FC236}">
                <a16:creationId xmlns:a16="http://schemas.microsoft.com/office/drawing/2014/main" id="{CEA4A096-94B0-72DE-70B1-C093129BC9B7}"/>
              </a:ext>
            </a:extLst>
          </p:cNvPr>
          <p:cNvSpPr txBox="1"/>
          <p:nvPr/>
        </p:nvSpPr>
        <p:spPr>
          <a:xfrm>
            <a:off x="4319088" y="979011"/>
            <a:ext cx="3347358" cy="1910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from tanggal &amp; shift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to tanggal &amp; shift (</a:t>
            </a:r>
            <a:r>
              <a:rPr lang="en-US" sz="1000" dirty="0" err="1"/>
              <a:t>maka</a:t>
            </a:r>
            <a:r>
              <a:rPr lang="en-US" sz="1000" dirty="0"/>
              <a:t> </a:t>
            </a:r>
            <a:r>
              <a:rPr lang="en-US" sz="1000" dirty="0" err="1"/>
              <a:t>akan</a:t>
            </a:r>
            <a:r>
              <a:rPr lang="en-US" sz="1000" dirty="0"/>
              <a:t> </a:t>
            </a:r>
            <a:r>
              <a:rPr lang="en-US" sz="1000" dirty="0" err="1"/>
              <a:t>tampil</a:t>
            </a:r>
            <a:r>
              <a:rPr lang="en-US" sz="1000" dirty="0"/>
              <a:t> filter data source)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source (</a:t>
            </a:r>
            <a:r>
              <a:rPr lang="en-US" sz="1000" dirty="0" err="1"/>
              <a:t>maka</a:t>
            </a:r>
            <a:r>
              <a:rPr lang="en-US" sz="1000" dirty="0"/>
              <a:t> </a:t>
            </a:r>
            <a:r>
              <a:rPr lang="en-US" sz="1000" dirty="0" err="1"/>
              <a:t>akan</a:t>
            </a:r>
            <a:r>
              <a:rPr lang="en-US" sz="1000" dirty="0"/>
              <a:t> </a:t>
            </a:r>
            <a:r>
              <a:rPr lang="en-US" sz="1000" dirty="0" err="1"/>
              <a:t>tampil</a:t>
            </a:r>
            <a:r>
              <a:rPr lang="en-US" sz="1000" dirty="0"/>
              <a:t> data filter containment unit)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containment unit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FL Phase (Maka data traceability View </a:t>
            </a:r>
            <a:r>
              <a:rPr lang="en-US" sz="1000" dirty="0" err="1"/>
              <a:t>akan</a:t>
            </a:r>
            <a:r>
              <a:rPr lang="en-US" sz="1000" dirty="0"/>
              <a:t> </a:t>
            </a:r>
            <a:r>
              <a:rPr lang="en-US" sz="1000" dirty="0" err="1"/>
              <a:t>tampil</a:t>
            </a:r>
            <a:r>
              <a:rPr lang="en-US" sz="1000" dirty="0"/>
              <a:t>)</a:t>
            </a:r>
          </a:p>
        </p:txBody>
      </p:sp>
      <p:sp>
        <p:nvSpPr>
          <p:cNvPr id="4" name="Kotak Teks 3">
            <a:extLst>
              <a:ext uri="{FF2B5EF4-FFF2-40B4-BE49-F238E27FC236}">
                <a16:creationId xmlns:a16="http://schemas.microsoft.com/office/drawing/2014/main" id="{A657F07E-888C-CC22-8898-827C8A9B5AF5}"/>
              </a:ext>
            </a:extLst>
          </p:cNvPr>
          <p:cNvSpPr txBox="1"/>
          <p:nvPr/>
        </p:nvSpPr>
        <p:spPr>
          <a:xfrm>
            <a:off x="369033" y="3060217"/>
            <a:ext cx="4578524" cy="1910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00" b="1" dirty="0"/>
              <a:t>PEMBACAAN</a:t>
            </a:r>
          </a:p>
          <a:p>
            <a:pPr marL="228600" indent="-228600" algn="just">
              <a:lnSpc>
                <a:spcPct val="150000"/>
              </a:lnSpc>
              <a:buAutoNum type="arabicPeriod"/>
            </a:pPr>
            <a:r>
              <a:rPr lang="en-US" sz="1000" dirty="0" err="1"/>
              <a:t>Apabila</a:t>
            </a:r>
            <a:r>
              <a:rPr lang="en-US" sz="1000" dirty="0"/>
              <a:t> FL Phase yang </a:t>
            </a:r>
            <a:r>
              <a:rPr lang="en-US" sz="1000" dirty="0" err="1"/>
              <a:t>terpilih</a:t>
            </a:r>
            <a:r>
              <a:rPr lang="en-US" sz="1000" dirty="0"/>
              <a:t> Adalah consumed </a:t>
            </a:r>
            <a:r>
              <a:rPr lang="en-US" sz="1000" dirty="0" err="1"/>
              <a:t>maka</a:t>
            </a:r>
            <a:r>
              <a:rPr lang="en-US" sz="1000" dirty="0"/>
              <a:t> </a:t>
            </a:r>
            <a:r>
              <a:rPr lang="en-US" sz="1000" dirty="0" err="1"/>
              <a:t>pembacaannya</a:t>
            </a:r>
            <a:r>
              <a:rPr lang="en-US" sz="1000" dirty="0"/>
              <a:t>. </a:t>
            </a:r>
          </a:p>
          <a:p>
            <a:pPr marL="228600" indent="-228600" algn="just">
              <a:lnSpc>
                <a:spcPct val="150000"/>
              </a:lnSpc>
              <a:buAutoNum type="alphaLcPeriod"/>
            </a:pPr>
            <a:r>
              <a:rPr lang="en-US" sz="1000" dirty="0"/>
              <a:t>Baris 1 = Adalah barcode material yang </a:t>
            </a:r>
            <a:r>
              <a:rPr lang="en-US" sz="1000" dirty="0" err="1"/>
              <a:t>mengconsumed</a:t>
            </a:r>
            <a:r>
              <a:rPr lang="en-US" sz="1000" dirty="0"/>
              <a:t> </a:t>
            </a:r>
          </a:p>
          <a:p>
            <a:pPr marL="228600" indent="-228600" algn="just">
              <a:lnSpc>
                <a:spcPct val="150000"/>
              </a:lnSpc>
              <a:buAutoNum type="alphaLcPeriod"/>
            </a:pPr>
            <a:r>
              <a:rPr lang="en-US" sz="1000" dirty="0"/>
              <a:t>Baris 2 = Adalah </a:t>
            </a:r>
            <a:r>
              <a:rPr lang="en-US" sz="1000" dirty="0" err="1"/>
              <a:t>mesin</a:t>
            </a:r>
            <a:r>
              <a:rPr lang="en-US" sz="1000" dirty="0"/>
              <a:t> yang </a:t>
            </a:r>
            <a:r>
              <a:rPr lang="en-US" sz="1000" dirty="0" err="1"/>
              <a:t>memproduced</a:t>
            </a:r>
            <a:endParaRPr lang="en-US" sz="1000" dirty="0"/>
          </a:p>
          <a:p>
            <a:pPr algn="just">
              <a:lnSpc>
                <a:spcPct val="150000"/>
              </a:lnSpc>
            </a:pPr>
            <a:endParaRPr lang="en-US" sz="1000" b="1" dirty="0"/>
          </a:p>
          <a:p>
            <a:pPr algn="just">
              <a:lnSpc>
                <a:spcPct val="150000"/>
              </a:lnSpc>
            </a:pPr>
            <a:r>
              <a:rPr lang="en-US" sz="1000" dirty="0"/>
              <a:t>2.    </a:t>
            </a:r>
            <a:r>
              <a:rPr lang="en-US" sz="1000" dirty="0" err="1"/>
              <a:t>Apabila</a:t>
            </a:r>
            <a:r>
              <a:rPr lang="en-US" sz="1000" dirty="0"/>
              <a:t> FL Phase yang </a:t>
            </a:r>
            <a:r>
              <a:rPr lang="en-US" sz="1000" dirty="0" err="1"/>
              <a:t>terpilih</a:t>
            </a:r>
            <a:r>
              <a:rPr lang="en-US" sz="1000" dirty="0"/>
              <a:t> Adalah produced </a:t>
            </a:r>
            <a:r>
              <a:rPr lang="en-US" sz="1000" dirty="0" err="1"/>
              <a:t>maka</a:t>
            </a:r>
            <a:r>
              <a:rPr lang="en-US" sz="1000" dirty="0"/>
              <a:t> </a:t>
            </a:r>
            <a:r>
              <a:rPr lang="en-US" sz="1000" dirty="0" err="1"/>
              <a:t>pembacaannya</a:t>
            </a:r>
            <a:r>
              <a:rPr lang="en-US" sz="1000" dirty="0"/>
              <a:t>.</a:t>
            </a:r>
          </a:p>
          <a:p>
            <a:pPr marL="228600" indent="-228600" algn="just">
              <a:lnSpc>
                <a:spcPct val="150000"/>
              </a:lnSpc>
              <a:buAutoNum type="alphaLcPeriod"/>
            </a:pPr>
            <a:r>
              <a:rPr lang="en-US" sz="1000" dirty="0"/>
              <a:t>Baris 1 = Adalah barcode material yang </a:t>
            </a:r>
            <a:r>
              <a:rPr lang="en-US" sz="1000" dirty="0" err="1"/>
              <a:t>terproduced</a:t>
            </a:r>
            <a:r>
              <a:rPr lang="en-US" sz="1000" dirty="0"/>
              <a:t> </a:t>
            </a:r>
          </a:p>
          <a:p>
            <a:pPr marL="228600" indent="-228600" algn="just">
              <a:lnSpc>
                <a:spcPct val="150000"/>
              </a:lnSpc>
              <a:buAutoNum type="alphaLcPeriod"/>
            </a:pPr>
            <a:r>
              <a:rPr lang="en-US" sz="1000" dirty="0"/>
              <a:t>Baris 2 = Adalah </a:t>
            </a:r>
            <a:r>
              <a:rPr lang="en-US" sz="1000" dirty="0" err="1"/>
              <a:t>mesin</a:t>
            </a:r>
            <a:r>
              <a:rPr lang="en-US" sz="1000" dirty="0"/>
              <a:t> yang </a:t>
            </a:r>
            <a:r>
              <a:rPr lang="en-US" sz="1000" dirty="0" err="1"/>
              <a:t>mengconsumed</a:t>
            </a:r>
            <a:r>
              <a:rPr lang="en-US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7434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758002B1-1660-1D39-E2E9-DFD02BF87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Judul 2">
            <a:extLst>
              <a:ext uri="{FF2B5EF4-FFF2-40B4-BE49-F238E27FC236}">
                <a16:creationId xmlns:a16="http://schemas.microsoft.com/office/drawing/2014/main" id="{B418E23B-28F5-8837-FEB7-21E4275B0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211" y="1365170"/>
            <a:ext cx="5890532" cy="984853"/>
          </a:xfrm>
        </p:spPr>
        <p:txBody>
          <a:bodyPr/>
          <a:lstStyle/>
          <a:p>
            <a:pPr algn="ctr"/>
            <a:r>
              <a:rPr lang="en-US" dirty="0"/>
              <a:t>Traceability By Materials</a:t>
            </a:r>
          </a:p>
        </p:txBody>
      </p:sp>
      <p:sp>
        <p:nvSpPr>
          <p:cNvPr id="4" name="Judul 2">
            <a:extLst>
              <a:ext uri="{FF2B5EF4-FFF2-40B4-BE49-F238E27FC236}">
                <a16:creationId xmlns:a16="http://schemas.microsoft.com/office/drawing/2014/main" id="{9510998D-CAF4-829B-6826-7FAE0F4DC931}"/>
              </a:ext>
            </a:extLst>
          </p:cNvPr>
          <p:cNvSpPr txBox="1">
            <a:spLocks/>
          </p:cNvSpPr>
          <p:nvPr/>
        </p:nvSpPr>
        <p:spPr>
          <a:xfrm>
            <a:off x="828674" y="2240947"/>
            <a:ext cx="7633607" cy="98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algn="ctr"/>
            <a:r>
              <a:rPr lang="en-US" sz="1600" b="0" dirty="0"/>
              <a:t>Traceability By Material </a:t>
            </a:r>
            <a:r>
              <a:rPr lang="en-US" sz="1600" b="0" dirty="0" err="1"/>
              <a:t>berfungsi</a:t>
            </a:r>
            <a:r>
              <a:rPr lang="en-US" sz="1600" b="0" dirty="0"/>
              <a:t> </a:t>
            </a:r>
            <a:r>
              <a:rPr lang="en-US" sz="1600" b="0" dirty="0" err="1"/>
              <a:t>untuk</a:t>
            </a:r>
            <a:r>
              <a:rPr lang="en-US" sz="1600" b="0" dirty="0"/>
              <a:t> </a:t>
            </a:r>
            <a:r>
              <a:rPr lang="en-US" sz="1600" b="0" dirty="0" err="1"/>
              <a:t>melacak</a:t>
            </a:r>
            <a:r>
              <a:rPr lang="en-US" sz="1600" b="0" dirty="0"/>
              <a:t> dan </a:t>
            </a:r>
            <a:r>
              <a:rPr lang="en-US" sz="1600" b="0" dirty="0" err="1"/>
              <a:t>menampilkan</a:t>
            </a:r>
            <a:r>
              <a:rPr lang="en-US" sz="1600" b="0" dirty="0"/>
              <a:t> </a:t>
            </a:r>
            <a:r>
              <a:rPr lang="en-US" sz="1600" b="0" dirty="0" err="1"/>
              <a:t>riwayat</a:t>
            </a:r>
            <a:r>
              <a:rPr lang="en-US" sz="1600" b="0" dirty="0"/>
              <a:t> proses </a:t>
            </a:r>
            <a:r>
              <a:rPr lang="en-US" sz="1600" b="0" dirty="0" err="1"/>
              <a:t>produksi</a:t>
            </a:r>
            <a:r>
              <a:rPr lang="en-US" sz="1600" b="0" dirty="0"/>
              <a:t> </a:t>
            </a:r>
            <a:r>
              <a:rPr lang="en-US" sz="1600" b="0" dirty="0" err="1"/>
              <a:t>berdasarkan</a:t>
            </a:r>
            <a:r>
              <a:rPr lang="en-US" sz="1600" b="0" dirty="0"/>
              <a:t> material yang </a:t>
            </a:r>
            <a:r>
              <a:rPr lang="en-US" sz="1600" b="0" dirty="0" err="1"/>
              <a:t>digunakan</a:t>
            </a:r>
            <a:r>
              <a:rPr lang="en-US" sz="1600" b="0" dirty="0"/>
              <a:t>.</a:t>
            </a:r>
            <a:endParaRPr lang="en-US" sz="15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303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>
          <a:extLst>
            <a:ext uri="{FF2B5EF4-FFF2-40B4-BE49-F238E27FC236}">
              <a16:creationId xmlns:a16="http://schemas.microsoft.com/office/drawing/2014/main" id="{465C76BD-B9BF-DE74-515E-3131CA82A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Judul 2">
            <a:extLst>
              <a:ext uri="{FF2B5EF4-FFF2-40B4-BE49-F238E27FC236}">
                <a16:creationId xmlns:a16="http://schemas.microsoft.com/office/drawing/2014/main" id="{AFE5B6EA-C455-E529-658D-CE057A85A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593" y="318407"/>
            <a:ext cx="5290457" cy="489857"/>
          </a:xfrm>
        </p:spPr>
        <p:txBody>
          <a:bodyPr/>
          <a:lstStyle/>
          <a:p>
            <a:pPr algn="l"/>
            <a:r>
              <a:rPr lang="en-US" sz="2000" dirty="0"/>
              <a:t>01. </a:t>
            </a:r>
            <a:r>
              <a:rPr lang="en-US" sz="2000" dirty="0" err="1"/>
              <a:t>Informasi</a:t>
            </a:r>
            <a:r>
              <a:rPr lang="en-US" sz="2000" dirty="0"/>
              <a:t> Fitur </a:t>
            </a:r>
          </a:p>
        </p:txBody>
      </p:sp>
      <p:pic>
        <p:nvPicPr>
          <p:cNvPr id="3" name="Gambar 2" descr="Sebuah gambar berisi teks, cuplikan layar, nomor, software&#10;&#10;Konten yang dihasilkan AI mungkin salah.">
            <a:extLst>
              <a:ext uri="{FF2B5EF4-FFF2-40B4-BE49-F238E27FC236}">
                <a16:creationId xmlns:a16="http://schemas.microsoft.com/office/drawing/2014/main" id="{3A36EA06-1D82-CC0E-61C5-935E1D9C5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640" y="1882163"/>
            <a:ext cx="4259938" cy="2413072"/>
          </a:xfrm>
          <a:prstGeom prst="rect">
            <a:avLst/>
          </a:prstGeom>
        </p:spPr>
      </p:pic>
      <p:sp>
        <p:nvSpPr>
          <p:cNvPr id="8" name="Keterangan: Garis Bengkok Ganda 7">
            <a:extLst>
              <a:ext uri="{FF2B5EF4-FFF2-40B4-BE49-F238E27FC236}">
                <a16:creationId xmlns:a16="http://schemas.microsoft.com/office/drawing/2014/main" id="{6021B89C-3586-76C9-3EA9-970F46DE4592}"/>
              </a:ext>
            </a:extLst>
          </p:cNvPr>
          <p:cNvSpPr/>
          <p:nvPr/>
        </p:nvSpPr>
        <p:spPr>
          <a:xfrm>
            <a:off x="477501" y="851843"/>
            <a:ext cx="1423987" cy="331468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416092"/>
              <a:gd name="adj8" fmla="val 151354"/>
            </a:avLst>
          </a:prstGeom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From Filter Tanggal &amp; Shift</a:t>
            </a:r>
          </a:p>
        </p:txBody>
      </p:sp>
      <p:sp>
        <p:nvSpPr>
          <p:cNvPr id="10" name="Keterangan: Garis Bengkok Ganda 9">
            <a:extLst>
              <a:ext uri="{FF2B5EF4-FFF2-40B4-BE49-F238E27FC236}">
                <a16:creationId xmlns:a16="http://schemas.microsoft.com/office/drawing/2014/main" id="{69E3EA5C-E508-0B70-CF5A-0E53B156BA43}"/>
              </a:ext>
            </a:extLst>
          </p:cNvPr>
          <p:cNvSpPr/>
          <p:nvPr/>
        </p:nvSpPr>
        <p:spPr>
          <a:xfrm>
            <a:off x="600074" y="2375565"/>
            <a:ext cx="1304926" cy="223625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133528"/>
              <a:gd name="adj8" fmla="val 140088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Filter Containment Unit</a:t>
            </a:r>
          </a:p>
        </p:txBody>
      </p:sp>
      <p:sp>
        <p:nvSpPr>
          <p:cNvPr id="11" name="Keterangan: Garis Bengkok Ganda 10">
            <a:extLst>
              <a:ext uri="{FF2B5EF4-FFF2-40B4-BE49-F238E27FC236}">
                <a16:creationId xmlns:a16="http://schemas.microsoft.com/office/drawing/2014/main" id="{60CFFB43-0890-CAF9-92EE-8B6F413DE31B}"/>
              </a:ext>
            </a:extLst>
          </p:cNvPr>
          <p:cNvSpPr/>
          <p:nvPr/>
        </p:nvSpPr>
        <p:spPr>
          <a:xfrm>
            <a:off x="736600" y="3780888"/>
            <a:ext cx="1168400" cy="263500"/>
          </a:xfrm>
          <a:prstGeom prst="borderCallout3">
            <a:avLst>
              <a:gd name="adj1" fmla="val 32325"/>
              <a:gd name="adj2" fmla="val 99691"/>
              <a:gd name="adj3" fmla="val 29258"/>
              <a:gd name="adj4" fmla="val 100269"/>
              <a:gd name="adj5" fmla="val 30112"/>
              <a:gd name="adj6" fmla="val 100590"/>
              <a:gd name="adj7" fmla="val -348989"/>
              <a:gd name="adj8" fmla="val 14260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Tombol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Reset Filter</a:t>
            </a:r>
          </a:p>
        </p:txBody>
      </p:sp>
      <p:sp>
        <p:nvSpPr>
          <p:cNvPr id="19" name="Keterangan: Garis Bengkok Ganda 18">
            <a:extLst>
              <a:ext uri="{FF2B5EF4-FFF2-40B4-BE49-F238E27FC236}">
                <a16:creationId xmlns:a16="http://schemas.microsoft.com/office/drawing/2014/main" id="{0762C2C1-98DB-AFBB-8E1C-1ABA8D66F78F}"/>
              </a:ext>
            </a:extLst>
          </p:cNvPr>
          <p:cNvSpPr/>
          <p:nvPr/>
        </p:nvSpPr>
        <p:spPr>
          <a:xfrm>
            <a:off x="6888417" y="1452555"/>
            <a:ext cx="1168401" cy="344342"/>
          </a:xfrm>
          <a:prstGeom prst="borderCallout3">
            <a:avLst>
              <a:gd name="adj1" fmla="val 51298"/>
              <a:gd name="adj2" fmla="val -530"/>
              <a:gd name="adj3" fmla="val 51299"/>
              <a:gd name="adj4" fmla="val -11837"/>
              <a:gd name="adj5" fmla="val 51147"/>
              <a:gd name="adj6" fmla="val -11819"/>
              <a:gd name="adj7" fmla="val 225537"/>
              <a:gd name="adj8" fmla="val -6894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Filter Semi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Finishging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Class</a:t>
            </a:r>
          </a:p>
        </p:txBody>
      </p:sp>
      <p:pic>
        <p:nvPicPr>
          <p:cNvPr id="20" name="Gambar 19" descr="Sebuah gambar berisi teks, cuplikan layar, nomor, Font&#10;&#10;Konten yang dihasilkan AI mungkin salah.">
            <a:extLst>
              <a:ext uri="{FF2B5EF4-FFF2-40B4-BE49-F238E27FC236}">
                <a16:creationId xmlns:a16="http://schemas.microsoft.com/office/drawing/2014/main" id="{A33C0BE2-65EB-061F-E2A3-220508E2F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01" y="1278298"/>
            <a:ext cx="1423987" cy="10215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6" name="Gambar 25" descr="Sebuah gambar berisi teks, cuplikan layar, nomor, Font&#10;&#10;Konten yang dihasilkan AI mungkin salah.">
            <a:extLst>
              <a:ext uri="{FF2B5EF4-FFF2-40B4-BE49-F238E27FC236}">
                <a16:creationId xmlns:a16="http://schemas.microsoft.com/office/drawing/2014/main" id="{79CBE478-3615-1BD3-C068-FF341921D6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30" b="34302"/>
          <a:stretch>
            <a:fillRect/>
          </a:stretch>
        </p:blipFill>
        <p:spPr>
          <a:xfrm>
            <a:off x="2514600" y="1054164"/>
            <a:ext cx="1423987" cy="6879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7" name="Gambar 26" descr="Sebuah gambar berisi teks, cuplikan layar, garis, Font&#10;&#10;Konten yang dihasilkan AI mungkin salah.">
            <a:extLst>
              <a:ext uri="{FF2B5EF4-FFF2-40B4-BE49-F238E27FC236}">
                <a16:creationId xmlns:a16="http://schemas.microsoft.com/office/drawing/2014/main" id="{7C957642-10D0-EAA2-07DF-3F33261CE4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2835" y="1038984"/>
            <a:ext cx="1415919" cy="7579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8" name="Keterangan: Garis Bengkok Ganda 27">
            <a:extLst>
              <a:ext uri="{FF2B5EF4-FFF2-40B4-BE49-F238E27FC236}">
                <a16:creationId xmlns:a16="http://schemas.microsoft.com/office/drawing/2014/main" id="{E1A5B111-5D67-67C6-F120-7CF92C5318FC}"/>
              </a:ext>
            </a:extLst>
          </p:cNvPr>
          <p:cNvSpPr/>
          <p:nvPr/>
        </p:nvSpPr>
        <p:spPr>
          <a:xfrm>
            <a:off x="600074" y="4164538"/>
            <a:ext cx="1304925" cy="449795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-36130"/>
              <a:gd name="adj8" fmla="val 14661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>
                    <a:lumMod val="10000"/>
                  </a:schemeClr>
                </a:solidFill>
              </a:rPr>
              <a:t>Traceability Views</a:t>
            </a:r>
          </a:p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“Data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pelacakan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sampai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dengan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turunannya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”</a:t>
            </a:r>
          </a:p>
        </p:txBody>
      </p:sp>
      <p:sp>
        <p:nvSpPr>
          <p:cNvPr id="29" name="Keterangan: Garis Bengkok Ganda 28">
            <a:extLst>
              <a:ext uri="{FF2B5EF4-FFF2-40B4-BE49-F238E27FC236}">
                <a16:creationId xmlns:a16="http://schemas.microsoft.com/office/drawing/2014/main" id="{F4BE5BC1-C937-8D95-2A18-76F99DBC7BB4}"/>
              </a:ext>
            </a:extLst>
          </p:cNvPr>
          <p:cNvSpPr/>
          <p:nvPr/>
        </p:nvSpPr>
        <p:spPr>
          <a:xfrm>
            <a:off x="2514600" y="720624"/>
            <a:ext cx="1376362" cy="214993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680933"/>
              <a:gd name="adj8" fmla="val 112788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To Filter Tanggal &amp; Shift</a:t>
            </a:r>
          </a:p>
        </p:txBody>
      </p:sp>
      <p:sp>
        <p:nvSpPr>
          <p:cNvPr id="30" name="Keterangan: Garis Bengkok Ganda 29">
            <a:extLst>
              <a:ext uri="{FF2B5EF4-FFF2-40B4-BE49-F238E27FC236}">
                <a16:creationId xmlns:a16="http://schemas.microsoft.com/office/drawing/2014/main" id="{5EC0BA78-E424-06AE-5AFE-6A40C17E1556}"/>
              </a:ext>
            </a:extLst>
          </p:cNvPr>
          <p:cNvSpPr/>
          <p:nvPr/>
        </p:nvSpPr>
        <p:spPr>
          <a:xfrm>
            <a:off x="4642835" y="731535"/>
            <a:ext cx="932543" cy="214993"/>
          </a:xfrm>
          <a:prstGeom prst="borderCallout3">
            <a:avLst>
              <a:gd name="adj1" fmla="val 51298"/>
              <a:gd name="adj2" fmla="val -530"/>
              <a:gd name="adj3" fmla="val 51299"/>
              <a:gd name="adj4" fmla="val -11837"/>
              <a:gd name="adj5" fmla="val 51147"/>
              <a:gd name="adj6" fmla="val -11819"/>
              <a:gd name="adj7" fmla="val 855062"/>
              <a:gd name="adj8" fmla="val -1213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Filter FL Phase</a:t>
            </a:r>
          </a:p>
        </p:txBody>
      </p:sp>
      <p:pic>
        <p:nvPicPr>
          <p:cNvPr id="32" name="Gambar 31" descr="Sebuah gambar berisi teks, cuplikan layar, Font, nomor&#10;&#10;Konten yang dihasilkan AI mungkin salah.">
            <a:extLst>
              <a:ext uri="{FF2B5EF4-FFF2-40B4-BE49-F238E27FC236}">
                <a16:creationId xmlns:a16="http://schemas.microsoft.com/office/drawing/2014/main" id="{6799EB0D-BE79-48C9-4FA5-B7B17C18A7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501" y="2674901"/>
            <a:ext cx="1423987" cy="9858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Gambar 33" descr="Sebuah gambar berisi teks, cuplikan layar, Font, nomor&#10;&#10;Konten yang dihasilkan AI mungkin salah.">
            <a:extLst>
              <a:ext uri="{FF2B5EF4-FFF2-40B4-BE49-F238E27FC236}">
                <a16:creationId xmlns:a16="http://schemas.microsoft.com/office/drawing/2014/main" id="{35A38B79-A7CA-BDB4-0EBA-CFB6CB5F8F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0097" y="1926012"/>
            <a:ext cx="1833829" cy="13463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69449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>
          <a:extLst>
            <a:ext uri="{FF2B5EF4-FFF2-40B4-BE49-F238E27FC236}">
              <a16:creationId xmlns:a16="http://schemas.microsoft.com/office/drawing/2014/main" id="{EF578125-D115-F607-4E21-6BC4D1985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Judul 2">
            <a:extLst>
              <a:ext uri="{FF2B5EF4-FFF2-40B4-BE49-F238E27FC236}">
                <a16:creationId xmlns:a16="http://schemas.microsoft.com/office/drawing/2014/main" id="{1C8AADD3-ADBB-FACA-91DE-73137169D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232755"/>
            <a:ext cx="5514975" cy="575509"/>
          </a:xfrm>
        </p:spPr>
        <p:txBody>
          <a:bodyPr/>
          <a:lstStyle/>
          <a:p>
            <a:pPr algn="l"/>
            <a:r>
              <a:rPr lang="en-US" sz="2000" dirty="0"/>
              <a:t>02. Langkah – Langkah </a:t>
            </a:r>
            <a:r>
              <a:rPr lang="en-US" sz="2000" dirty="0" err="1"/>
              <a:t>Penggunaan</a:t>
            </a:r>
            <a:endParaRPr lang="en-US" sz="2000" dirty="0"/>
          </a:p>
        </p:txBody>
      </p:sp>
      <p:pic>
        <p:nvPicPr>
          <p:cNvPr id="3" name="Gambar 2" descr="Sebuah gambar berisi teks, cuplikan layar, software, nomor&#10;&#10;Konten yang dihasilkan AI mungkin salah.">
            <a:extLst>
              <a:ext uri="{FF2B5EF4-FFF2-40B4-BE49-F238E27FC236}">
                <a16:creationId xmlns:a16="http://schemas.microsoft.com/office/drawing/2014/main" id="{B5E57F26-C298-18FA-1897-133E7FF52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46" y="938893"/>
            <a:ext cx="3767114" cy="1853293"/>
          </a:xfrm>
          <a:prstGeom prst="rect">
            <a:avLst/>
          </a:prstGeom>
        </p:spPr>
      </p:pic>
      <p:sp>
        <p:nvSpPr>
          <p:cNvPr id="2" name="Kotak Teks 1">
            <a:extLst>
              <a:ext uri="{FF2B5EF4-FFF2-40B4-BE49-F238E27FC236}">
                <a16:creationId xmlns:a16="http://schemas.microsoft.com/office/drawing/2014/main" id="{AB924732-6B4B-FF1E-6F0C-9E7C4A7C7E80}"/>
              </a:ext>
            </a:extLst>
          </p:cNvPr>
          <p:cNvSpPr txBox="1"/>
          <p:nvPr/>
        </p:nvSpPr>
        <p:spPr>
          <a:xfrm>
            <a:off x="393526" y="2922815"/>
            <a:ext cx="4578524" cy="1910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00" b="1" dirty="0"/>
              <a:t>PEMBACAAN</a:t>
            </a:r>
          </a:p>
          <a:p>
            <a:pPr marL="228600" indent="-228600" algn="just">
              <a:lnSpc>
                <a:spcPct val="150000"/>
              </a:lnSpc>
              <a:buAutoNum type="arabicPeriod"/>
            </a:pPr>
            <a:r>
              <a:rPr lang="en-US" sz="1000" dirty="0" err="1"/>
              <a:t>Apabila</a:t>
            </a:r>
            <a:r>
              <a:rPr lang="en-US" sz="1000" dirty="0"/>
              <a:t> FL Phase yang </a:t>
            </a:r>
            <a:r>
              <a:rPr lang="en-US" sz="1000" dirty="0" err="1"/>
              <a:t>terpilih</a:t>
            </a:r>
            <a:r>
              <a:rPr lang="en-US" sz="1000" dirty="0"/>
              <a:t> Adalah consumed </a:t>
            </a:r>
            <a:r>
              <a:rPr lang="en-US" sz="1000" dirty="0" err="1"/>
              <a:t>maka</a:t>
            </a:r>
            <a:r>
              <a:rPr lang="en-US" sz="1000" dirty="0"/>
              <a:t> </a:t>
            </a:r>
            <a:r>
              <a:rPr lang="en-US" sz="1000" dirty="0" err="1"/>
              <a:t>pembacaannya</a:t>
            </a:r>
            <a:r>
              <a:rPr lang="en-US" sz="1000" dirty="0"/>
              <a:t>. </a:t>
            </a:r>
          </a:p>
          <a:p>
            <a:pPr marL="228600" indent="-228600" algn="just">
              <a:lnSpc>
                <a:spcPct val="150000"/>
              </a:lnSpc>
              <a:buAutoNum type="alphaLcPeriod"/>
            </a:pPr>
            <a:r>
              <a:rPr lang="en-US" sz="1000" dirty="0"/>
              <a:t>Baris 1 = Adalah barcode material yang </a:t>
            </a:r>
            <a:r>
              <a:rPr lang="en-US" sz="1000" dirty="0" err="1"/>
              <a:t>mengconsumed</a:t>
            </a:r>
            <a:r>
              <a:rPr lang="en-US" sz="1000" dirty="0"/>
              <a:t> </a:t>
            </a:r>
          </a:p>
          <a:p>
            <a:pPr marL="228600" indent="-228600" algn="just">
              <a:lnSpc>
                <a:spcPct val="150000"/>
              </a:lnSpc>
              <a:buAutoNum type="alphaLcPeriod"/>
            </a:pPr>
            <a:r>
              <a:rPr lang="en-US" sz="1000" dirty="0"/>
              <a:t>Baris 2 = Adalah </a:t>
            </a:r>
            <a:r>
              <a:rPr lang="en-US" sz="1000" dirty="0" err="1"/>
              <a:t>mesin</a:t>
            </a:r>
            <a:r>
              <a:rPr lang="en-US" sz="1000" dirty="0"/>
              <a:t> yang </a:t>
            </a:r>
            <a:r>
              <a:rPr lang="en-US" sz="1000" dirty="0" err="1"/>
              <a:t>memproduced</a:t>
            </a:r>
            <a:endParaRPr lang="en-US" sz="1000" dirty="0"/>
          </a:p>
          <a:p>
            <a:pPr algn="just">
              <a:lnSpc>
                <a:spcPct val="150000"/>
              </a:lnSpc>
            </a:pPr>
            <a:endParaRPr lang="en-US" sz="1000" b="1" dirty="0"/>
          </a:p>
          <a:p>
            <a:pPr algn="just">
              <a:lnSpc>
                <a:spcPct val="150000"/>
              </a:lnSpc>
            </a:pPr>
            <a:r>
              <a:rPr lang="en-US" sz="1000" dirty="0"/>
              <a:t>2.    </a:t>
            </a:r>
            <a:r>
              <a:rPr lang="en-US" sz="1000" dirty="0" err="1"/>
              <a:t>Apabila</a:t>
            </a:r>
            <a:r>
              <a:rPr lang="en-US" sz="1000" dirty="0"/>
              <a:t> FL Phase yang </a:t>
            </a:r>
            <a:r>
              <a:rPr lang="en-US" sz="1000" dirty="0" err="1"/>
              <a:t>terpilih</a:t>
            </a:r>
            <a:r>
              <a:rPr lang="en-US" sz="1000" dirty="0"/>
              <a:t> Adalah produced </a:t>
            </a:r>
            <a:r>
              <a:rPr lang="en-US" sz="1000" dirty="0" err="1"/>
              <a:t>maka</a:t>
            </a:r>
            <a:r>
              <a:rPr lang="en-US" sz="1000" dirty="0"/>
              <a:t> </a:t>
            </a:r>
            <a:r>
              <a:rPr lang="en-US" sz="1000" dirty="0" err="1"/>
              <a:t>pembacaannya</a:t>
            </a:r>
            <a:r>
              <a:rPr lang="en-US" sz="1000" dirty="0"/>
              <a:t>.</a:t>
            </a:r>
          </a:p>
          <a:p>
            <a:pPr marL="228600" indent="-228600" algn="just">
              <a:lnSpc>
                <a:spcPct val="150000"/>
              </a:lnSpc>
              <a:buAutoNum type="alphaLcPeriod"/>
            </a:pPr>
            <a:r>
              <a:rPr lang="en-US" sz="1000" dirty="0"/>
              <a:t>Baris 1 = Adalah barcode material yang </a:t>
            </a:r>
            <a:r>
              <a:rPr lang="en-US" sz="1000" dirty="0" err="1"/>
              <a:t>terproduced</a:t>
            </a:r>
            <a:r>
              <a:rPr lang="en-US" sz="1000" dirty="0"/>
              <a:t> </a:t>
            </a:r>
          </a:p>
          <a:p>
            <a:pPr marL="228600" indent="-228600" algn="just">
              <a:lnSpc>
                <a:spcPct val="150000"/>
              </a:lnSpc>
              <a:buAutoNum type="alphaLcPeriod"/>
            </a:pPr>
            <a:r>
              <a:rPr lang="en-US" sz="1000" dirty="0"/>
              <a:t>Baris 2 = Adalah </a:t>
            </a:r>
            <a:r>
              <a:rPr lang="en-US" sz="1000" dirty="0" err="1"/>
              <a:t>mesin</a:t>
            </a:r>
            <a:r>
              <a:rPr lang="en-US" sz="1000" dirty="0"/>
              <a:t> yang </a:t>
            </a:r>
            <a:r>
              <a:rPr lang="en-US" sz="1000" dirty="0" err="1"/>
              <a:t>mengconsumed</a:t>
            </a:r>
            <a:r>
              <a:rPr lang="en-US" sz="1000" dirty="0"/>
              <a:t> </a:t>
            </a:r>
          </a:p>
        </p:txBody>
      </p:sp>
      <p:sp>
        <p:nvSpPr>
          <p:cNvPr id="4" name="Kotak Teks 3">
            <a:extLst>
              <a:ext uri="{FF2B5EF4-FFF2-40B4-BE49-F238E27FC236}">
                <a16:creationId xmlns:a16="http://schemas.microsoft.com/office/drawing/2014/main" id="{C168135A-6078-910B-54D6-3C85280FF262}"/>
              </a:ext>
            </a:extLst>
          </p:cNvPr>
          <p:cNvSpPr txBox="1"/>
          <p:nvPr/>
        </p:nvSpPr>
        <p:spPr>
          <a:xfrm>
            <a:off x="4441371" y="938893"/>
            <a:ext cx="3347358" cy="1910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from tanggal &amp; shift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to tanggal &amp; shift (</a:t>
            </a:r>
            <a:r>
              <a:rPr lang="en-US" sz="1000" dirty="0" err="1"/>
              <a:t>maka</a:t>
            </a:r>
            <a:r>
              <a:rPr lang="en-US" sz="1000" dirty="0"/>
              <a:t> </a:t>
            </a:r>
            <a:r>
              <a:rPr lang="en-US" sz="1000" dirty="0" err="1"/>
              <a:t>akan</a:t>
            </a:r>
            <a:r>
              <a:rPr lang="en-US" sz="1000" dirty="0"/>
              <a:t> </a:t>
            </a:r>
            <a:r>
              <a:rPr lang="en-US" sz="1000" dirty="0" err="1"/>
              <a:t>tampil</a:t>
            </a:r>
            <a:r>
              <a:rPr lang="en-US" sz="1000" dirty="0"/>
              <a:t> filter data semi finishing class)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Semi finishing class (</a:t>
            </a:r>
            <a:r>
              <a:rPr lang="en-US" sz="1000" dirty="0" err="1"/>
              <a:t>maka</a:t>
            </a:r>
            <a:r>
              <a:rPr lang="en-US" sz="1000" dirty="0"/>
              <a:t> </a:t>
            </a:r>
            <a:r>
              <a:rPr lang="en-US" sz="1000" dirty="0" err="1"/>
              <a:t>akan</a:t>
            </a:r>
            <a:r>
              <a:rPr lang="en-US" sz="1000" dirty="0"/>
              <a:t> </a:t>
            </a:r>
            <a:r>
              <a:rPr lang="en-US" sz="1000" dirty="0" err="1"/>
              <a:t>tampil</a:t>
            </a:r>
            <a:r>
              <a:rPr lang="en-US" sz="1000" dirty="0"/>
              <a:t> data filter materials)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material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FL Phase (Maka data traceability View </a:t>
            </a:r>
            <a:r>
              <a:rPr lang="en-US" sz="1000" dirty="0" err="1"/>
              <a:t>akan</a:t>
            </a:r>
            <a:r>
              <a:rPr lang="en-US" sz="1000" dirty="0"/>
              <a:t> </a:t>
            </a:r>
            <a:r>
              <a:rPr lang="en-US" sz="1000" dirty="0" err="1"/>
              <a:t>tampil</a:t>
            </a:r>
            <a:r>
              <a:rPr lang="en-US" sz="1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55129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D3E88580-925B-F1E6-9E0A-7B5E5D55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Judul 2">
            <a:extLst>
              <a:ext uri="{FF2B5EF4-FFF2-40B4-BE49-F238E27FC236}">
                <a16:creationId xmlns:a16="http://schemas.microsoft.com/office/drawing/2014/main" id="{89B1134B-D190-2D3F-1A84-90C5E626F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211" y="1365170"/>
            <a:ext cx="5890532" cy="984853"/>
          </a:xfrm>
        </p:spPr>
        <p:txBody>
          <a:bodyPr/>
          <a:lstStyle/>
          <a:p>
            <a:pPr algn="ctr"/>
            <a:r>
              <a:rPr lang="en-US" dirty="0"/>
              <a:t>Tracing Barcode</a:t>
            </a:r>
          </a:p>
        </p:txBody>
      </p:sp>
      <p:sp>
        <p:nvSpPr>
          <p:cNvPr id="4" name="Judul 2">
            <a:extLst>
              <a:ext uri="{FF2B5EF4-FFF2-40B4-BE49-F238E27FC236}">
                <a16:creationId xmlns:a16="http://schemas.microsoft.com/office/drawing/2014/main" id="{4C581EA5-F4FE-6E86-F9BD-747261FDF5E3}"/>
              </a:ext>
            </a:extLst>
          </p:cNvPr>
          <p:cNvSpPr txBox="1">
            <a:spLocks/>
          </p:cNvSpPr>
          <p:nvPr/>
        </p:nvSpPr>
        <p:spPr>
          <a:xfrm>
            <a:off x="828674" y="2240947"/>
            <a:ext cx="7633607" cy="98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algn="ctr"/>
            <a:r>
              <a:rPr lang="en-US" sz="1600" b="0" dirty="0"/>
              <a:t>Tracing barcode </a:t>
            </a:r>
            <a:r>
              <a:rPr lang="en-US" sz="1600" b="0" dirty="0" err="1"/>
              <a:t>bertujuan</a:t>
            </a:r>
            <a:r>
              <a:rPr lang="en-US" sz="1600" b="0" dirty="0"/>
              <a:t> </a:t>
            </a:r>
            <a:r>
              <a:rPr lang="en-US" sz="1600" b="0" dirty="0" err="1"/>
              <a:t>untuk</a:t>
            </a:r>
            <a:r>
              <a:rPr lang="en-US" sz="1600" b="0" dirty="0"/>
              <a:t> </a:t>
            </a:r>
            <a:r>
              <a:rPr lang="en-US" sz="1600" b="0" dirty="0" err="1"/>
              <a:t>melacak</a:t>
            </a:r>
            <a:r>
              <a:rPr lang="en-US" sz="1600" b="0" dirty="0"/>
              <a:t> </a:t>
            </a:r>
            <a:r>
              <a:rPr lang="en-US" sz="1600" b="0" dirty="0" err="1"/>
              <a:t>asal</a:t>
            </a:r>
            <a:r>
              <a:rPr lang="en-US" sz="1600" b="0" dirty="0"/>
              <a:t> </a:t>
            </a:r>
            <a:r>
              <a:rPr lang="en-US" sz="1600" b="0" dirty="0" err="1"/>
              <a:t>usul</a:t>
            </a:r>
            <a:r>
              <a:rPr lang="en-US" sz="1600" b="0" dirty="0"/>
              <a:t> </a:t>
            </a:r>
            <a:r>
              <a:rPr lang="en-US" sz="1600" b="0" dirty="0" err="1"/>
              <a:t>produksi</a:t>
            </a:r>
            <a:r>
              <a:rPr lang="en-US" sz="1600" b="0" dirty="0"/>
              <a:t> </a:t>
            </a:r>
            <a:r>
              <a:rPr lang="en-US" sz="1600" b="0" dirty="0" err="1"/>
              <a:t>dari</a:t>
            </a:r>
            <a:r>
              <a:rPr lang="en-US" sz="1600" b="0" dirty="0"/>
              <a:t> fase building </a:t>
            </a:r>
            <a:r>
              <a:rPr lang="en-US" sz="1600" b="0" dirty="0" err="1"/>
              <a:t>hingga</a:t>
            </a:r>
            <a:r>
              <a:rPr lang="en-US" sz="1600" b="0" dirty="0"/>
              <a:t> ke </a:t>
            </a:r>
            <a:r>
              <a:rPr lang="en-US" sz="1600" b="0" dirty="0" err="1"/>
              <a:t>turunannya</a:t>
            </a:r>
            <a:r>
              <a:rPr lang="en-US" sz="1600" b="0" dirty="0"/>
              <a:t>.</a:t>
            </a:r>
            <a:endParaRPr lang="en-US" sz="15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37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>
          <a:extLst>
            <a:ext uri="{FF2B5EF4-FFF2-40B4-BE49-F238E27FC236}">
              <a16:creationId xmlns:a16="http://schemas.microsoft.com/office/drawing/2014/main" id="{26FE5E0E-7FE9-BB1C-D908-D8B8FFEC0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ambar 4" descr="Sebuah gambar berisi teks, cuplikan layar, software, Laman internet&#10;&#10;Konten yang dihasilkan AI mungkin salah.">
            <a:extLst>
              <a:ext uri="{FF2B5EF4-FFF2-40B4-BE49-F238E27FC236}">
                <a16:creationId xmlns:a16="http://schemas.microsoft.com/office/drawing/2014/main" id="{817C96A3-D35E-4451-E13C-A4BF7C57A6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005"/>
          <a:stretch>
            <a:fillRect/>
          </a:stretch>
        </p:blipFill>
        <p:spPr>
          <a:xfrm>
            <a:off x="2118709" y="1988008"/>
            <a:ext cx="4344018" cy="2605716"/>
          </a:xfrm>
          <a:prstGeom prst="rect">
            <a:avLst/>
          </a:prstGeom>
        </p:spPr>
      </p:pic>
      <p:sp>
        <p:nvSpPr>
          <p:cNvPr id="6" name="Judul 2">
            <a:extLst>
              <a:ext uri="{FF2B5EF4-FFF2-40B4-BE49-F238E27FC236}">
                <a16:creationId xmlns:a16="http://schemas.microsoft.com/office/drawing/2014/main" id="{8AAA2AB8-052B-1FB8-B894-CAFD5D88F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593" y="318407"/>
            <a:ext cx="5290457" cy="489857"/>
          </a:xfrm>
        </p:spPr>
        <p:txBody>
          <a:bodyPr/>
          <a:lstStyle/>
          <a:p>
            <a:pPr algn="l"/>
            <a:r>
              <a:rPr lang="en-US" sz="2000" dirty="0"/>
              <a:t>01. </a:t>
            </a:r>
            <a:r>
              <a:rPr lang="en-US" sz="2000" dirty="0" err="1"/>
              <a:t>Informasi</a:t>
            </a:r>
            <a:r>
              <a:rPr lang="en-US" sz="2000" dirty="0"/>
              <a:t> Fitur </a:t>
            </a:r>
          </a:p>
        </p:txBody>
      </p:sp>
      <p:sp>
        <p:nvSpPr>
          <p:cNvPr id="9" name="Keterangan: Garis Bengkok Ganda 8">
            <a:extLst>
              <a:ext uri="{FF2B5EF4-FFF2-40B4-BE49-F238E27FC236}">
                <a16:creationId xmlns:a16="http://schemas.microsoft.com/office/drawing/2014/main" id="{7B485758-CE7F-E593-0F92-AFE05CA6FAC1}"/>
              </a:ext>
            </a:extLst>
          </p:cNvPr>
          <p:cNvSpPr/>
          <p:nvPr/>
        </p:nvSpPr>
        <p:spPr>
          <a:xfrm>
            <a:off x="336204" y="837021"/>
            <a:ext cx="1423987" cy="222828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809459"/>
              <a:gd name="adj8" fmla="val 13318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From Filter Tanggal &amp; Shift</a:t>
            </a:r>
          </a:p>
        </p:txBody>
      </p:sp>
      <p:sp>
        <p:nvSpPr>
          <p:cNvPr id="12" name="Keterangan: Garis Bengkok Ganda 11">
            <a:extLst>
              <a:ext uri="{FF2B5EF4-FFF2-40B4-BE49-F238E27FC236}">
                <a16:creationId xmlns:a16="http://schemas.microsoft.com/office/drawing/2014/main" id="{8789F0AD-851B-EA1B-F3E4-F207EAD48B5A}"/>
              </a:ext>
            </a:extLst>
          </p:cNvPr>
          <p:cNvSpPr/>
          <p:nvPr/>
        </p:nvSpPr>
        <p:spPr>
          <a:xfrm>
            <a:off x="6888417" y="1452555"/>
            <a:ext cx="1168401" cy="344342"/>
          </a:xfrm>
          <a:prstGeom prst="borderCallout3">
            <a:avLst>
              <a:gd name="adj1" fmla="val 51298"/>
              <a:gd name="adj2" fmla="val -530"/>
              <a:gd name="adj3" fmla="val 51299"/>
              <a:gd name="adj4" fmla="val -11837"/>
              <a:gd name="adj5" fmla="val 51147"/>
              <a:gd name="adj6" fmla="val -11819"/>
              <a:gd name="adj7" fmla="val 326348"/>
              <a:gd name="adj8" fmla="val -7039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Filter Source</a:t>
            </a:r>
          </a:p>
        </p:txBody>
      </p:sp>
      <p:pic>
        <p:nvPicPr>
          <p:cNvPr id="13" name="Gambar 12" descr="Sebuah gambar berisi teks, cuplikan layar, nomor, Font&#10;&#10;Konten yang dihasilkan AI mungkin salah.">
            <a:extLst>
              <a:ext uri="{FF2B5EF4-FFF2-40B4-BE49-F238E27FC236}">
                <a16:creationId xmlns:a16="http://schemas.microsoft.com/office/drawing/2014/main" id="{53C6B26A-97A8-D724-D946-85BF921C3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04" y="1113948"/>
            <a:ext cx="1423987" cy="10215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Gambar 13" descr="Sebuah gambar berisi teks, cuplikan layar, nomor, Font&#10;&#10;Konten yang dihasilkan AI mungkin salah.">
            <a:extLst>
              <a:ext uri="{FF2B5EF4-FFF2-40B4-BE49-F238E27FC236}">
                <a16:creationId xmlns:a16="http://schemas.microsoft.com/office/drawing/2014/main" id="{28793CFD-0901-F930-626D-A0B2F26779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30" b="34302"/>
          <a:stretch>
            <a:fillRect/>
          </a:stretch>
        </p:blipFill>
        <p:spPr>
          <a:xfrm>
            <a:off x="2521945" y="1176039"/>
            <a:ext cx="1423987" cy="6879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Gambar 14" descr="Sebuah gambar berisi teks, cuplikan layar, garis, Font&#10;&#10;Konten yang dihasilkan AI mungkin salah.">
            <a:extLst>
              <a:ext uri="{FF2B5EF4-FFF2-40B4-BE49-F238E27FC236}">
                <a16:creationId xmlns:a16="http://schemas.microsoft.com/office/drawing/2014/main" id="{A6577CD1-A965-311E-B111-6F405B914C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6284" y="1088311"/>
            <a:ext cx="1415919" cy="7579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Keterangan: Garis Bengkok Ganda 15">
            <a:extLst>
              <a:ext uri="{FF2B5EF4-FFF2-40B4-BE49-F238E27FC236}">
                <a16:creationId xmlns:a16="http://schemas.microsoft.com/office/drawing/2014/main" id="{2078A975-DF3C-6870-E3EF-AE3DEE44CCD2}"/>
              </a:ext>
            </a:extLst>
          </p:cNvPr>
          <p:cNvSpPr/>
          <p:nvPr/>
        </p:nvSpPr>
        <p:spPr>
          <a:xfrm>
            <a:off x="600074" y="4164538"/>
            <a:ext cx="1304925" cy="449795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-2248"/>
              <a:gd name="adj8" fmla="val 136232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>
                    <a:lumMod val="10000"/>
                  </a:schemeClr>
                </a:solidFill>
              </a:rPr>
              <a:t>Traceability Views</a:t>
            </a:r>
          </a:p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“Data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pelacakan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sampai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dengan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turunannya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”</a:t>
            </a:r>
          </a:p>
        </p:txBody>
      </p:sp>
      <p:sp>
        <p:nvSpPr>
          <p:cNvPr id="17" name="Keterangan: Garis Bengkok Ganda 16">
            <a:extLst>
              <a:ext uri="{FF2B5EF4-FFF2-40B4-BE49-F238E27FC236}">
                <a16:creationId xmlns:a16="http://schemas.microsoft.com/office/drawing/2014/main" id="{AA16277A-CF3E-5F94-27AD-3AA0E9AD2726}"/>
              </a:ext>
            </a:extLst>
          </p:cNvPr>
          <p:cNvSpPr/>
          <p:nvPr/>
        </p:nvSpPr>
        <p:spPr>
          <a:xfrm>
            <a:off x="2569570" y="893961"/>
            <a:ext cx="1376362" cy="214993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763492"/>
              <a:gd name="adj8" fmla="val 112788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To Filter Tanggal &amp; Shift</a:t>
            </a:r>
          </a:p>
        </p:txBody>
      </p:sp>
      <p:sp>
        <p:nvSpPr>
          <p:cNvPr id="18" name="Keterangan: Garis Bengkok Ganda 17">
            <a:extLst>
              <a:ext uri="{FF2B5EF4-FFF2-40B4-BE49-F238E27FC236}">
                <a16:creationId xmlns:a16="http://schemas.microsoft.com/office/drawing/2014/main" id="{DC906BFB-BD6D-EA00-4B77-65270366379C}"/>
              </a:ext>
            </a:extLst>
          </p:cNvPr>
          <p:cNvSpPr/>
          <p:nvPr/>
        </p:nvSpPr>
        <p:spPr>
          <a:xfrm>
            <a:off x="5076284" y="837021"/>
            <a:ext cx="932543" cy="214993"/>
          </a:xfrm>
          <a:prstGeom prst="borderCallout3">
            <a:avLst>
              <a:gd name="adj1" fmla="val 51298"/>
              <a:gd name="adj2" fmla="val -530"/>
              <a:gd name="adj3" fmla="val 51299"/>
              <a:gd name="adj4" fmla="val -11837"/>
              <a:gd name="adj5" fmla="val 52377"/>
              <a:gd name="adj6" fmla="val -22487"/>
              <a:gd name="adj7" fmla="val 814556"/>
              <a:gd name="adj8" fmla="val -2169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Filter FL Phase</a:t>
            </a:r>
          </a:p>
        </p:txBody>
      </p:sp>
      <p:sp>
        <p:nvSpPr>
          <p:cNvPr id="21" name="Keterangan: Garis Bengkok Ganda 20">
            <a:extLst>
              <a:ext uri="{FF2B5EF4-FFF2-40B4-BE49-F238E27FC236}">
                <a16:creationId xmlns:a16="http://schemas.microsoft.com/office/drawing/2014/main" id="{FE70B51D-456F-F90E-9DD7-4F29FAF7FACF}"/>
              </a:ext>
            </a:extLst>
          </p:cNvPr>
          <p:cNvSpPr/>
          <p:nvPr/>
        </p:nvSpPr>
        <p:spPr>
          <a:xfrm>
            <a:off x="6888417" y="2053894"/>
            <a:ext cx="1168401" cy="344342"/>
          </a:xfrm>
          <a:prstGeom prst="borderCallout3">
            <a:avLst>
              <a:gd name="adj1" fmla="val 51298"/>
              <a:gd name="adj2" fmla="val -530"/>
              <a:gd name="adj3" fmla="val 51299"/>
              <a:gd name="adj4" fmla="val -11837"/>
              <a:gd name="adj5" fmla="val 51147"/>
              <a:gd name="adj6" fmla="val -11819"/>
              <a:gd name="adj7" fmla="val 287007"/>
              <a:gd name="adj8" fmla="val -62424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Filter Source</a:t>
            </a:r>
          </a:p>
        </p:txBody>
      </p:sp>
      <p:sp>
        <p:nvSpPr>
          <p:cNvPr id="22" name="Keterangan: Garis Bengkok Ganda 21">
            <a:extLst>
              <a:ext uri="{FF2B5EF4-FFF2-40B4-BE49-F238E27FC236}">
                <a16:creationId xmlns:a16="http://schemas.microsoft.com/office/drawing/2014/main" id="{6E09687A-37A3-B742-B676-35DD031D3B4A}"/>
              </a:ext>
            </a:extLst>
          </p:cNvPr>
          <p:cNvSpPr/>
          <p:nvPr/>
        </p:nvSpPr>
        <p:spPr>
          <a:xfrm>
            <a:off x="6888417" y="2573094"/>
            <a:ext cx="1168401" cy="344342"/>
          </a:xfrm>
          <a:prstGeom prst="borderCallout3">
            <a:avLst>
              <a:gd name="adj1" fmla="val 51298"/>
              <a:gd name="adj2" fmla="val -530"/>
              <a:gd name="adj3" fmla="val 51299"/>
              <a:gd name="adj4" fmla="val -11837"/>
              <a:gd name="adj5" fmla="val 51147"/>
              <a:gd name="adj6" fmla="val -11819"/>
              <a:gd name="adj7" fmla="val 235372"/>
              <a:gd name="adj8" fmla="val -5807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Filter Source</a:t>
            </a:r>
          </a:p>
        </p:txBody>
      </p:sp>
      <p:sp>
        <p:nvSpPr>
          <p:cNvPr id="23" name="Keterangan: Garis Bengkok Ganda 22">
            <a:extLst>
              <a:ext uri="{FF2B5EF4-FFF2-40B4-BE49-F238E27FC236}">
                <a16:creationId xmlns:a16="http://schemas.microsoft.com/office/drawing/2014/main" id="{263136D0-FFEE-B7A4-C5BF-47FEC2BB3FA0}"/>
              </a:ext>
            </a:extLst>
          </p:cNvPr>
          <p:cNvSpPr/>
          <p:nvPr/>
        </p:nvSpPr>
        <p:spPr>
          <a:xfrm>
            <a:off x="6888417" y="3738367"/>
            <a:ext cx="1168401" cy="344342"/>
          </a:xfrm>
          <a:prstGeom prst="borderCallout3">
            <a:avLst>
              <a:gd name="adj1" fmla="val 51298"/>
              <a:gd name="adj2" fmla="val -530"/>
              <a:gd name="adj3" fmla="val 51299"/>
              <a:gd name="adj4" fmla="val -11837"/>
              <a:gd name="adj5" fmla="val 51147"/>
              <a:gd name="adj6" fmla="val -11819"/>
              <a:gd name="adj7" fmla="val -81812"/>
              <a:gd name="adj8" fmla="val -15807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Filter Source</a:t>
            </a:r>
          </a:p>
        </p:txBody>
      </p:sp>
      <p:sp>
        <p:nvSpPr>
          <p:cNvPr id="24" name="Keterangan: Garis Bengkok Ganda 23">
            <a:extLst>
              <a:ext uri="{FF2B5EF4-FFF2-40B4-BE49-F238E27FC236}">
                <a16:creationId xmlns:a16="http://schemas.microsoft.com/office/drawing/2014/main" id="{88853B51-5670-0F9F-590F-CA68B0717147}"/>
              </a:ext>
            </a:extLst>
          </p:cNvPr>
          <p:cNvSpPr/>
          <p:nvPr/>
        </p:nvSpPr>
        <p:spPr>
          <a:xfrm>
            <a:off x="336204" y="2460336"/>
            <a:ext cx="1423987" cy="222828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269910"/>
              <a:gd name="adj8" fmla="val 134964"/>
            </a:avLst>
          </a:prstGeom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From Filter Tanggal &amp; Shift</a:t>
            </a:r>
          </a:p>
        </p:txBody>
      </p:sp>
      <p:sp>
        <p:nvSpPr>
          <p:cNvPr id="25" name="Keterangan: Garis Bengkok Ganda 24">
            <a:extLst>
              <a:ext uri="{FF2B5EF4-FFF2-40B4-BE49-F238E27FC236}">
                <a16:creationId xmlns:a16="http://schemas.microsoft.com/office/drawing/2014/main" id="{2D8BFAFE-57C1-5F3E-42CC-CCECBA62C1FF}"/>
              </a:ext>
            </a:extLst>
          </p:cNvPr>
          <p:cNvSpPr/>
          <p:nvPr/>
        </p:nvSpPr>
        <p:spPr>
          <a:xfrm>
            <a:off x="336203" y="3089609"/>
            <a:ext cx="1423987" cy="222828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159720"/>
              <a:gd name="adj8" fmla="val 13912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From Filter Tanggal &amp; Shift</a:t>
            </a:r>
          </a:p>
        </p:txBody>
      </p:sp>
    </p:spTree>
    <p:extLst>
      <p:ext uri="{BB962C8B-B14F-4D97-AF65-F5344CB8AC3E}">
        <p14:creationId xmlns:p14="http://schemas.microsoft.com/office/powerpoint/2010/main" val="1519906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>
          <a:extLst>
            <a:ext uri="{FF2B5EF4-FFF2-40B4-BE49-F238E27FC236}">
              <a16:creationId xmlns:a16="http://schemas.microsoft.com/office/drawing/2014/main" id="{0CEFC361-CF1C-9CCB-4368-8DF082F82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Judul 2">
            <a:extLst>
              <a:ext uri="{FF2B5EF4-FFF2-40B4-BE49-F238E27FC236}">
                <a16:creationId xmlns:a16="http://schemas.microsoft.com/office/drawing/2014/main" id="{889AE811-7AB5-D5F2-CCD9-6C9477F4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232755"/>
            <a:ext cx="5514975" cy="575509"/>
          </a:xfrm>
        </p:spPr>
        <p:txBody>
          <a:bodyPr/>
          <a:lstStyle/>
          <a:p>
            <a:pPr algn="l"/>
            <a:r>
              <a:rPr lang="en-US" sz="2000" dirty="0"/>
              <a:t>02. Langkah – Langkah </a:t>
            </a:r>
            <a:r>
              <a:rPr lang="en-US" sz="2000" dirty="0" err="1"/>
              <a:t>Penggunaan</a:t>
            </a:r>
            <a:endParaRPr lang="en-US" sz="2000" dirty="0"/>
          </a:p>
        </p:txBody>
      </p:sp>
      <p:pic>
        <p:nvPicPr>
          <p:cNvPr id="3" name="Gambar 2" descr="Sebuah gambar berisi teks, cuplikan layar, software, Laman internet&#10;&#10;Konten yang dihasilkan AI mungkin salah.">
            <a:extLst>
              <a:ext uri="{FF2B5EF4-FFF2-40B4-BE49-F238E27FC236}">
                <a16:creationId xmlns:a16="http://schemas.microsoft.com/office/drawing/2014/main" id="{EA68AB42-F7A7-5233-DDB3-BD14B14C9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1389241"/>
            <a:ext cx="3548592" cy="1966887"/>
          </a:xfrm>
          <a:prstGeom prst="rect">
            <a:avLst/>
          </a:prstGeom>
        </p:spPr>
      </p:pic>
      <p:sp>
        <p:nvSpPr>
          <p:cNvPr id="2" name="Kotak Teks 1">
            <a:extLst>
              <a:ext uri="{FF2B5EF4-FFF2-40B4-BE49-F238E27FC236}">
                <a16:creationId xmlns:a16="http://schemas.microsoft.com/office/drawing/2014/main" id="{0EA2F16A-696E-6D92-359C-4F3178893AC3}"/>
              </a:ext>
            </a:extLst>
          </p:cNvPr>
          <p:cNvSpPr txBox="1"/>
          <p:nvPr/>
        </p:nvSpPr>
        <p:spPr>
          <a:xfrm>
            <a:off x="4343400" y="852176"/>
            <a:ext cx="3347358" cy="14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from tanggal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to tanggal (Maka </a:t>
            </a:r>
            <a:r>
              <a:rPr lang="en-US" sz="1000" dirty="0" err="1"/>
              <a:t>akan</a:t>
            </a:r>
            <a:r>
              <a:rPr lang="en-US" sz="1000" dirty="0"/>
              <a:t> </a:t>
            </a:r>
            <a:r>
              <a:rPr lang="en-US" sz="1000" dirty="0" err="1"/>
              <a:t>tampil</a:t>
            </a:r>
            <a:r>
              <a:rPr lang="en-US" sz="1000" dirty="0"/>
              <a:t> filter </a:t>
            </a:r>
            <a:r>
              <a:rPr lang="en-US" sz="1000" dirty="0" err="1"/>
              <a:t>tyre</a:t>
            </a:r>
            <a:r>
              <a:rPr lang="en-US" sz="1000" dirty="0"/>
              <a:t> barcode)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Filter </a:t>
            </a:r>
            <a:r>
              <a:rPr lang="en-US" sz="1000" dirty="0" err="1"/>
              <a:t>tyre</a:t>
            </a:r>
            <a:r>
              <a:rPr lang="en-US" sz="1000" dirty="0"/>
              <a:t> barcode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 err="1"/>
              <a:t>Klik</a:t>
            </a:r>
            <a:r>
              <a:rPr lang="en-US" sz="1000" dirty="0"/>
              <a:t> submit (</a:t>
            </a:r>
            <a:r>
              <a:rPr lang="en-US" sz="1000" dirty="0" err="1"/>
              <a:t>maka</a:t>
            </a:r>
            <a:r>
              <a:rPr lang="en-US" sz="1000" dirty="0"/>
              <a:t> </a:t>
            </a:r>
            <a:r>
              <a:rPr lang="en-US" sz="1000" dirty="0" err="1"/>
              <a:t>akan</a:t>
            </a:r>
            <a:r>
              <a:rPr lang="en-US" sz="1000" dirty="0"/>
              <a:t> </a:t>
            </a:r>
            <a:r>
              <a:rPr lang="en-US" sz="1000" dirty="0" err="1"/>
              <a:t>tampil</a:t>
            </a:r>
            <a:r>
              <a:rPr lang="en-US" sz="1000" dirty="0"/>
              <a:t> data tracing </a:t>
            </a:r>
            <a:r>
              <a:rPr lang="en-US" sz="1000" dirty="0" err="1"/>
              <a:t>sampai</a:t>
            </a:r>
            <a:r>
              <a:rPr lang="en-US" sz="1000" dirty="0"/>
              <a:t> ke </a:t>
            </a:r>
            <a:r>
              <a:rPr lang="en-US" sz="1000" dirty="0" err="1"/>
              <a:t>turunannya</a:t>
            </a:r>
            <a:r>
              <a:rPr lang="en-US" sz="1000" dirty="0"/>
              <a:t>)</a:t>
            </a:r>
          </a:p>
        </p:txBody>
      </p:sp>
      <p:sp>
        <p:nvSpPr>
          <p:cNvPr id="4" name="Kotak Teks 3">
            <a:extLst>
              <a:ext uri="{FF2B5EF4-FFF2-40B4-BE49-F238E27FC236}">
                <a16:creationId xmlns:a16="http://schemas.microsoft.com/office/drawing/2014/main" id="{F17E21B4-16E4-D24E-F65E-ADA00F137DB7}"/>
              </a:ext>
            </a:extLst>
          </p:cNvPr>
          <p:cNvSpPr txBox="1"/>
          <p:nvPr/>
        </p:nvSpPr>
        <p:spPr>
          <a:xfrm>
            <a:off x="4441371" y="2638643"/>
            <a:ext cx="3347358" cy="1217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b="1" dirty="0" err="1"/>
              <a:t>Tombol</a:t>
            </a:r>
            <a:r>
              <a:rPr lang="en-US" sz="1000" b="1" dirty="0"/>
              <a:t> export PDF : </a:t>
            </a:r>
            <a:r>
              <a:rPr lang="en-US" sz="1000" dirty="0" err="1"/>
              <a:t>Untuk</a:t>
            </a:r>
            <a:r>
              <a:rPr lang="en-US" sz="1000" dirty="0"/>
              <a:t> </a:t>
            </a:r>
            <a:r>
              <a:rPr lang="en-US" sz="1000" dirty="0" err="1"/>
              <a:t>mendownload</a:t>
            </a:r>
            <a:r>
              <a:rPr lang="en-US" sz="1000" dirty="0"/>
              <a:t> data dalam </a:t>
            </a:r>
            <a:r>
              <a:rPr lang="en-US" sz="1000" dirty="0" err="1"/>
              <a:t>bentuk</a:t>
            </a:r>
            <a:r>
              <a:rPr lang="en-US" sz="1000" dirty="0"/>
              <a:t> pdf</a:t>
            </a:r>
          </a:p>
          <a:p>
            <a:pPr>
              <a:lnSpc>
                <a:spcPct val="150000"/>
              </a:lnSpc>
            </a:pPr>
            <a:r>
              <a:rPr lang="en-US" sz="1000" b="1" dirty="0" err="1"/>
              <a:t>Tombol</a:t>
            </a:r>
            <a:r>
              <a:rPr lang="en-US" sz="1000" b="1" dirty="0"/>
              <a:t> Reset : </a:t>
            </a:r>
            <a:r>
              <a:rPr lang="en-US" sz="1000" dirty="0" err="1"/>
              <a:t>Untuk</a:t>
            </a:r>
            <a:r>
              <a:rPr lang="en-US" sz="1000" dirty="0"/>
              <a:t> </a:t>
            </a:r>
            <a:r>
              <a:rPr lang="en-US" sz="1000" dirty="0" err="1"/>
              <a:t>meriset</a:t>
            </a:r>
            <a:r>
              <a:rPr lang="en-US" sz="1000" dirty="0"/>
              <a:t> filter </a:t>
            </a:r>
          </a:p>
          <a:p>
            <a:pPr>
              <a:lnSpc>
                <a:spcPct val="150000"/>
              </a:lnSpc>
            </a:pPr>
            <a:r>
              <a:rPr lang="en-US" sz="1000" b="1" dirty="0" err="1"/>
              <a:t>Tombol</a:t>
            </a:r>
            <a:r>
              <a:rPr lang="en-US" sz="1000" b="1" dirty="0"/>
              <a:t> Detail : </a:t>
            </a:r>
            <a:r>
              <a:rPr lang="en-US" sz="1000" dirty="0" err="1"/>
              <a:t>Beralih</a:t>
            </a:r>
            <a:r>
              <a:rPr lang="en-US" sz="1000" dirty="0"/>
              <a:t> ke menu tracing barcode year </a:t>
            </a:r>
            <a:r>
              <a:rPr lang="en-US" sz="1000" dirty="0" err="1"/>
              <a:t>untuk</a:t>
            </a:r>
            <a:r>
              <a:rPr lang="en-US" sz="1000" dirty="0"/>
              <a:t> </a:t>
            </a:r>
            <a:r>
              <a:rPr lang="en-US" sz="1000" dirty="0" err="1"/>
              <a:t>tahun</a:t>
            </a:r>
            <a:r>
              <a:rPr lang="en-US" sz="1000" dirty="0"/>
              <a:t> – </a:t>
            </a:r>
            <a:r>
              <a:rPr lang="en-US" sz="1000" dirty="0" err="1"/>
              <a:t>tahun</a:t>
            </a:r>
            <a:r>
              <a:rPr lang="en-US" sz="1000" dirty="0"/>
              <a:t> </a:t>
            </a:r>
            <a:r>
              <a:rPr lang="en-US" sz="1000" dirty="0" err="1"/>
              <a:t>sebelumnya</a:t>
            </a:r>
            <a:r>
              <a:rPr lang="en-US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4893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909D4381-5ECA-8A50-F485-53684463D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Judul 2">
            <a:extLst>
              <a:ext uri="{FF2B5EF4-FFF2-40B4-BE49-F238E27FC236}">
                <a16:creationId xmlns:a16="http://schemas.microsoft.com/office/drawing/2014/main" id="{B4FCF28B-61D6-4A2C-7747-62538BD25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211" y="1365170"/>
            <a:ext cx="5890532" cy="984853"/>
          </a:xfrm>
        </p:spPr>
        <p:txBody>
          <a:bodyPr/>
          <a:lstStyle/>
          <a:p>
            <a:pPr algn="ctr"/>
            <a:r>
              <a:rPr lang="en-US" dirty="0"/>
              <a:t>Tracing Barcode Year</a:t>
            </a:r>
          </a:p>
        </p:txBody>
      </p:sp>
      <p:sp>
        <p:nvSpPr>
          <p:cNvPr id="4" name="Judul 2">
            <a:extLst>
              <a:ext uri="{FF2B5EF4-FFF2-40B4-BE49-F238E27FC236}">
                <a16:creationId xmlns:a16="http://schemas.microsoft.com/office/drawing/2014/main" id="{15747612-6C5D-2DDF-74D2-691AD2D8BD4B}"/>
              </a:ext>
            </a:extLst>
          </p:cNvPr>
          <p:cNvSpPr txBox="1">
            <a:spLocks/>
          </p:cNvSpPr>
          <p:nvPr/>
        </p:nvSpPr>
        <p:spPr>
          <a:xfrm>
            <a:off x="828674" y="2240947"/>
            <a:ext cx="7633607" cy="98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algn="ctr"/>
            <a:r>
              <a:rPr lang="en-US" sz="1600" b="0" dirty="0"/>
              <a:t>Tracing barcode year </a:t>
            </a:r>
            <a:r>
              <a:rPr lang="en-US" sz="1600" b="0" dirty="0" err="1"/>
              <a:t>bertujuan</a:t>
            </a:r>
            <a:r>
              <a:rPr lang="en-US" sz="1600" b="0" dirty="0"/>
              <a:t> </a:t>
            </a:r>
            <a:r>
              <a:rPr lang="en-US" sz="1600" b="0" dirty="0" err="1"/>
              <a:t>untuk</a:t>
            </a:r>
            <a:r>
              <a:rPr lang="en-US" sz="1600" b="0" dirty="0"/>
              <a:t> </a:t>
            </a:r>
            <a:r>
              <a:rPr lang="en-US" sz="1600" b="0" dirty="0" err="1"/>
              <a:t>menempilkan</a:t>
            </a:r>
            <a:r>
              <a:rPr lang="en-US" sz="1600" b="0" dirty="0"/>
              <a:t> </a:t>
            </a:r>
            <a:r>
              <a:rPr lang="en-US" sz="1600" b="0" dirty="0" err="1"/>
              <a:t>informasi</a:t>
            </a:r>
            <a:r>
              <a:rPr lang="en-US" sz="1600" b="0" dirty="0"/>
              <a:t> </a:t>
            </a:r>
            <a:r>
              <a:rPr lang="en-US" sz="1600" b="0" dirty="0" err="1"/>
              <a:t>pelacakan</a:t>
            </a:r>
            <a:r>
              <a:rPr lang="en-US" sz="1600" b="0" dirty="0"/>
              <a:t> </a:t>
            </a:r>
            <a:r>
              <a:rPr lang="en-US" sz="1600" b="0" dirty="0" err="1"/>
              <a:t>produksi</a:t>
            </a:r>
            <a:r>
              <a:rPr lang="en-US" sz="1600" b="0" dirty="0"/>
              <a:t> material </a:t>
            </a:r>
            <a:r>
              <a:rPr lang="en-US" sz="1600" b="0" dirty="0" err="1"/>
              <a:t>dari</a:t>
            </a:r>
            <a:r>
              <a:rPr lang="en-US" sz="1600" b="0" dirty="0"/>
              <a:t> </a:t>
            </a:r>
            <a:r>
              <a:rPr lang="en-US" sz="1600" b="0" dirty="0" err="1"/>
              <a:t>tahun</a:t>
            </a:r>
            <a:r>
              <a:rPr lang="en-US" sz="1600" b="0" dirty="0"/>
              <a:t> </a:t>
            </a:r>
            <a:r>
              <a:rPr lang="en-US" sz="1600" b="0" dirty="0" err="1"/>
              <a:t>tahun</a:t>
            </a:r>
            <a:r>
              <a:rPr lang="en-US" sz="1600" b="0" dirty="0"/>
              <a:t> </a:t>
            </a:r>
            <a:r>
              <a:rPr lang="en-US" sz="1600" b="0" dirty="0" err="1"/>
              <a:t>sebelumnya</a:t>
            </a:r>
            <a:r>
              <a:rPr lang="en-US" sz="1600" b="0" dirty="0"/>
              <a:t>. </a:t>
            </a:r>
            <a:endParaRPr lang="en-US" sz="15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87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>
          <a:extLst>
            <a:ext uri="{FF2B5EF4-FFF2-40B4-BE49-F238E27FC236}">
              <a16:creationId xmlns:a16="http://schemas.microsoft.com/office/drawing/2014/main" id="{A855852E-DB0C-8AB9-17D5-BE954264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 descr="Sebuah gambar berisi teks, cuplikan layar, software, Laman internet&#10;&#10;Konten yang dihasilkan AI mungkin salah.">
            <a:extLst>
              <a:ext uri="{FF2B5EF4-FFF2-40B4-BE49-F238E27FC236}">
                <a16:creationId xmlns:a16="http://schemas.microsoft.com/office/drawing/2014/main" id="{9B94B5AB-F3EB-2964-D5E6-E38F72C5E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885" y="2053894"/>
            <a:ext cx="4207850" cy="2387477"/>
          </a:xfrm>
          <a:prstGeom prst="rect">
            <a:avLst/>
          </a:prstGeom>
        </p:spPr>
      </p:pic>
      <p:sp>
        <p:nvSpPr>
          <p:cNvPr id="9" name="Judul 2">
            <a:extLst>
              <a:ext uri="{FF2B5EF4-FFF2-40B4-BE49-F238E27FC236}">
                <a16:creationId xmlns:a16="http://schemas.microsoft.com/office/drawing/2014/main" id="{72DE1CBD-3E87-D07F-A46F-A1064E41F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593" y="318407"/>
            <a:ext cx="5290457" cy="489857"/>
          </a:xfrm>
        </p:spPr>
        <p:txBody>
          <a:bodyPr/>
          <a:lstStyle/>
          <a:p>
            <a:pPr algn="l"/>
            <a:r>
              <a:rPr lang="en-US" sz="2000" dirty="0"/>
              <a:t>01. </a:t>
            </a:r>
            <a:r>
              <a:rPr lang="en-US" sz="2000" dirty="0" err="1"/>
              <a:t>Informasi</a:t>
            </a:r>
            <a:r>
              <a:rPr lang="en-US" sz="2000" dirty="0"/>
              <a:t> Fitur </a:t>
            </a:r>
          </a:p>
        </p:txBody>
      </p:sp>
      <p:sp>
        <p:nvSpPr>
          <p:cNvPr id="10" name="Keterangan: Garis Bengkok Ganda 9">
            <a:extLst>
              <a:ext uri="{FF2B5EF4-FFF2-40B4-BE49-F238E27FC236}">
                <a16:creationId xmlns:a16="http://schemas.microsoft.com/office/drawing/2014/main" id="{57CF69A9-F0E8-949B-1F8F-87CBE723D656}"/>
              </a:ext>
            </a:extLst>
          </p:cNvPr>
          <p:cNvSpPr/>
          <p:nvPr/>
        </p:nvSpPr>
        <p:spPr>
          <a:xfrm>
            <a:off x="336204" y="837021"/>
            <a:ext cx="1423987" cy="222828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736180"/>
              <a:gd name="adj8" fmla="val 13891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From Filter Tanggal &amp; Shift</a:t>
            </a:r>
          </a:p>
        </p:txBody>
      </p:sp>
      <p:sp>
        <p:nvSpPr>
          <p:cNvPr id="11" name="Keterangan: Garis Bengkok Ganda 10">
            <a:extLst>
              <a:ext uri="{FF2B5EF4-FFF2-40B4-BE49-F238E27FC236}">
                <a16:creationId xmlns:a16="http://schemas.microsoft.com/office/drawing/2014/main" id="{628FE966-3E25-DF65-8198-697917830F5B}"/>
              </a:ext>
            </a:extLst>
          </p:cNvPr>
          <p:cNvSpPr/>
          <p:nvPr/>
        </p:nvSpPr>
        <p:spPr>
          <a:xfrm>
            <a:off x="6888417" y="1452555"/>
            <a:ext cx="1168401" cy="344342"/>
          </a:xfrm>
          <a:prstGeom prst="borderCallout3">
            <a:avLst>
              <a:gd name="adj1" fmla="val 51298"/>
              <a:gd name="adj2" fmla="val -530"/>
              <a:gd name="adj3" fmla="val 51299"/>
              <a:gd name="adj4" fmla="val -11837"/>
              <a:gd name="adj5" fmla="val 51147"/>
              <a:gd name="adj6" fmla="val -11819"/>
              <a:gd name="adj7" fmla="val 302638"/>
              <a:gd name="adj8" fmla="val -65504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Filter Source</a:t>
            </a:r>
          </a:p>
        </p:txBody>
      </p:sp>
      <p:pic>
        <p:nvPicPr>
          <p:cNvPr id="12" name="Gambar 11" descr="Sebuah gambar berisi teks, cuplikan layar, nomor, Font&#10;&#10;Konten yang dihasilkan AI mungkin salah.">
            <a:extLst>
              <a:ext uri="{FF2B5EF4-FFF2-40B4-BE49-F238E27FC236}">
                <a16:creationId xmlns:a16="http://schemas.microsoft.com/office/drawing/2014/main" id="{E53519D5-3A30-6999-E657-9471B5706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04" y="1113948"/>
            <a:ext cx="1423987" cy="10215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Gambar 12" descr="Sebuah gambar berisi teks, cuplikan layar, nomor, Font&#10;&#10;Konten yang dihasilkan AI mungkin salah.">
            <a:extLst>
              <a:ext uri="{FF2B5EF4-FFF2-40B4-BE49-F238E27FC236}">
                <a16:creationId xmlns:a16="http://schemas.microsoft.com/office/drawing/2014/main" id="{BA102FF7-3260-816E-CC8A-9ED0DE8088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30" b="34302"/>
          <a:stretch>
            <a:fillRect/>
          </a:stretch>
        </p:blipFill>
        <p:spPr>
          <a:xfrm>
            <a:off x="2521945" y="1176039"/>
            <a:ext cx="1423987" cy="6879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Gambar 13" descr="Sebuah gambar berisi teks, cuplikan layar, garis, Font&#10;&#10;Konten yang dihasilkan AI mungkin salah.">
            <a:extLst>
              <a:ext uri="{FF2B5EF4-FFF2-40B4-BE49-F238E27FC236}">
                <a16:creationId xmlns:a16="http://schemas.microsoft.com/office/drawing/2014/main" id="{CAEB3EE2-CCA7-DF26-232E-F6AD2B594B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6284" y="1108954"/>
            <a:ext cx="1415919" cy="7579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Keterangan: Garis Bengkok Ganda 14">
            <a:extLst>
              <a:ext uri="{FF2B5EF4-FFF2-40B4-BE49-F238E27FC236}">
                <a16:creationId xmlns:a16="http://schemas.microsoft.com/office/drawing/2014/main" id="{36DEB5BB-CED5-61F5-35C2-984593B746BD}"/>
              </a:ext>
            </a:extLst>
          </p:cNvPr>
          <p:cNvSpPr/>
          <p:nvPr/>
        </p:nvSpPr>
        <p:spPr>
          <a:xfrm>
            <a:off x="534760" y="3135838"/>
            <a:ext cx="1304925" cy="449795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-2248"/>
              <a:gd name="adj8" fmla="val 136232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>
                    <a:lumMod val="10000"/>
                  </a:schemeClr>
                </a:solidFill>
              </a:rPr>
              <a:t>Traceability Views</a:t>
            </a:r>
          </a:p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“Data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pelacakan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sampai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dengan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800" dirty="0" err="1">
                <a:solidFill>
                  <a:schemeClr val="bg1">
                    <a:lumMod val="10000"/>
                  </a:schemeClr>
                </a:solidFill>
              </a:rPr>
              <a:t>turunannya</a:t>
            </a:r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”</a:t>
            </a:r>
          </a:p>
        </p:txBody>
      </p:sp>
      <p:sp>
        <p:nvSpPr>
          <p:cNvPr id="16" name="Keterangan: Garis Bengkok Ganda 15">
            <a:extLst>
              <a:ext uri="{FF2B5EF4-FFF2-40B4-BE49-F238E27FC236}">
                <a16:creationId xmlns:a16="http://schemas.microsoft.com/office/drawing/2014/main" id="{31CFA596-FD9E-BB9D-3E4D-14F79B23DCA4}"/>
              </a:ext>
            </a:extLst>
          </p:cNvPr>
          <p:cNvSpPr/>
          <p:nvPr/>
        </p:nvSpPr>
        <p:spPr>
          <a:xfrm>
            <a:off x="2569570" y="893961"/>
            <a:ext cx="1376362" cy="214993"/>
          </a:xfrm>
          <a:prstGeom prst="borderCallout3">
            <a:avLst>
              <a:gd name="adj1" fmla="val 32325"/>
              <a:gd name="adj2" fmla="val 99691"/>
              <a:gd name="adj3" fmla="val 31794"/>
              <a:gd name="adj4" fmla="val 112633"/>
              <a:gd name="adj5" fmla="val 33494"/>
              <a:gd name="adj6" fmla="val 112818"/>
              <a:gd name="adj7" fmla="val 763492"/>
              <a:gd name="adj8" fmla="val 112788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To Filter Tanggal &amp; Shift</a:t>
            </a:r>
          </a:p>
        </p:txBody>
      </p:sp>
      <p:sp>
        <p:nvSpPr>
          <p:cNvPr id="17" name="Keterangan: Garis Bengkok Ganda 16">
            <a:extLst>
              <a:ext uri="{FF2B5EF4-FFF2-40B4-BE49-F238E27FC236}">
                <a16:creationId xmlns:a16="http://schemas.microsoft.com/office/drawing/2014/main" id="{1C01D348-B7D5-7E6F-A6C5-25B560A28F28}"/>
              </a:ext>
            </a:extLst>
          </p:cNvPr>
          <p:cNvSpPr/>
          <p:nvPr/>
        </p:nvSpPr>
        <p:spPr>
          <a:xfrm>
            <a:off x="5076284" y="837021"/>
            <a:ext cx="932543" cy="214993"/>
          </a:xfrm>
          <a:prstGeom prst="borderCallout3">
            <a:avLst>
              <a:gd name="adj1" fmla="val 51298"/>
              <a:gd name="adj2" fmla="val -530"/>
              <a:gd name="adj3" fmla="val 51299"/>
              <a:gd name="adj4" fmla="val -11837"/>
              <a:gd name="adj5" fmla="val 52377"/>
              <a:gd name="adj6" fmla="val -22487"/>
              <a:gd name="adj7" fmla="val 814556"/>
              <a:gd name="adj8" fmla="val -2169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10000"/>
                  </a:schemeClr>
                </a:solidFill>
              </a:rPr>
              <a:t>Filter FL Phase</a:t>
            </a:r>
          </a:p>
        </p:txBody>
      </p:sp>
    </p:spTree>
    <p:extLst>
      <p:ext uri="{BB962C8B-B14F-4D97-AF65-F5344CB8AC3E}">
        <p14:creationId xmlns:p14="http://schemas.microsoft.com/office/powerpoint/2010/main" val="2458407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>
          <a:extLst>
            <a:ext uri="{FF2B5EF4-FFF2-40B4-BE49-F238E27FC236}">
              <a16:creationId xmlns:a16="http://schemas.microsoft.com/office/drawing/2014/main" id="{9F0E6B12-D242-9C4E-8D9A-5783003BD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Judul 2">
            <a:extLst>
              <a:ext uri="{FF2B5EF4-FFF2-40B4-BE49-F238E27FC236}">
                <a16:creationId xmlns:a16="http://schemas.microsoft.com/office/drawing/2014/main" id="{F37E1ED1-CABB-B374-62EB-868B701D9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232755"/>
            <a:ext cx="5514975" cy="575509"/>
          </a:xfrm>
        </p:spPr>
        <p:txBody>
          <a:bodyPr/>
          <a:lstStyle/>
          <a:p>
            <a:pPr algn="l"/>
            <a:r>
              <a:rPr lang="en-US" sz="2000" dirty="0"/>
              <a:t>02. Langkah – Langkah </a:t>
            </a:r>
            <a:r>
              <a:rPr lang="en-US" sz="2000" dirty="0" err="1"/>
              <a:t>Penggunaan</a:t>
            </a:r>
            <a:endParaRPr lang="en-US" sz="2000" dirty="0"/>
          </a:p>
        </p:txBody>
      </p:sp>
      <p:sp>
        <p:nvSpPr>
          <p:cNvPr id="2" name="Kotak Teks 1">
            <a:extLst>
              <a:ext uri="{FF2B5EF4-FFF2-40B4-BE49-F238E27FC236}">
                <a16:creationId xmlns:a16="http://schemas.microsoft.com/office/drawing/2014/main" id="{5D5BBCD0-ED0A-3DF5-0A42-38CEE3B1F67B}"/>
              </a:ext>
            </a:extLst>
          </p:cNvPr>
          <p:cNvSpPr txBox="1"/>
          <p:nvPr/>
        </p:nvSpPr>
        <p:spPr>
          <a:xfrm>
            <a:off x="4441371" y="1571843"/>
            <a:ext cx="3347358" cy="14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Pilih filter from tanggal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Pilih filter to tanggal (Maka </a:t>
            </a:r>
            <a:r>
              <a:rPr lang="en-US" sz="1000" dirty="0" err="1"/>
              <a:t>akan</a:t>
            </a:r>
            <a:r>
              <a:rPr lang="en-US" sz="1000" dirty="0"/>
              <a:t> </a:t>
            </a:r>
            <a:r>
              <a:rPr lang="en-US" sz="1000" dirty="0" err="1"/>
              <a:t>tampil</a:t>
            </a:r>
            <a:r>
              <a:rPr lang="en-US" sz="1000" dirty="0"/>
              <a:t> filter </a:t>
            </a:r>
            <a:r>
              <a:rPr lang="en-US" sz="1000" dirty="0" err="1"/>
              <a:t>tyre</a:t>
            </a:r>
            <a:r>
              <a:rPr lang="en-US" sz="1000" dirty="0"/>
              <a:t> barcode)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/>
              <a:t>Pilih filter </a:t>
            </a:r>
            <a:r>
              <a:rPr lang="en-US" sz="1000" dirty="0" err="1"/>
              <a:t>tyre</a:t>
            </a:r>
            <a:r>
              <a:rPr lang="en-US" sz="1000" dirty="0"/>
              <a:t> barcode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 err="1"/>
              <a:t>Klik</a:t>
            </a:r>
            <a:r>
              <a:rPr lang="en-US" sz="1000" dirty="0"/>
              <a:t> submit (</a:t>
            </a:r>
            <a:r>
              <a:rPr lang="en-US" sz="1000" dirty="0" err="1"/>
              <a:t>maka</a:t>
            </a:r>
            <a:r>
              <a:rPr lang="en-US" sz="1000" dirty="0"/>
              <a:t> </a:t>
            </a:r>
            <a:r>
              <a:rPr lang="en-US" sz="1000" dirty="0" err="1"/>
              <a:t>akan</a:t>
            </a:r>
            <a:r>
              <a:rPr lang="en-US" sz="1000" dirty="0"/>
              <a:t> </a:t>
            </a:r>
            <a:r>
              <a:rPr lang="en-US" sz="1000" dirty="0" err="1"/>
              <a:t>tampil</a:t>
            </a:r>
            <a:r>
              <a:rPr lang="en-US" sz="1000" dirty="0"/>
              <a:t> data tracing </a:t>
            </a:r>
            <a:r>
              <a:rPr lang="en-US" sz="1000" dirty="0" err="1"/>
              <a:t>sampai</a:t>
            </a:r>
            <a:r>
              <a:rPr lang="en-US" sz="1000" dirty="0"/>
              <a:t> ke </a:t>
            </a:r>
            <a:r>
              <a:rPr lang="en-US" sz="1000" dirty="0" err="1"/>
              <a:t>turunannya</a:t>
            </a:r>
            <a:r>
              <a:rPr lang="en-US" sz="1000" dirty="0"/>
              <a:t>)</a:t>
            </a:r>
          </a:p>
        </p:txBody>
      </p:sp>
      <p:pic>
        <p:nvPicPr>
          <p:cNvPr id="5" name="Gambar 4" descr="Sebuah gambar berisi teks, cuplikan layar, software, Laman internet&#10;&#10;Konten yang dihasilkan AI mungkin salah.">
            <a:extLst>
              <a:ext uri="{FF2B5EF4-FFF2-40B4-BE49-F238E27FC236}">
                <a16:creationId xmlns:a16="http://schemas.microsoft.com/office/drawing/2014/main" id="{AC6D5799-6E46-8297-80D3-1B891EAF6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85" y="1411536"/>
            <a:ext cx="3649715" cy="207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40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achelor in Robotics Engineering by Slidesgo">
  <a:themeElements>
    <a:clrScheme name="Simple Light">
      <a:dk1>
        <a:srgbClr val="1F164D"/>
      </a:dk1>
      <a:lt1>
        <a:srgbClr val="F9F9F9"/>
      </a:lt1>
      <a:dk2>
        <a:srgbClr val="E8E8E8"/>
      </a:dk2>
      <a:lt2>
        <a:srgbClr val="C1C1C1"/>
      </a:lt2>
      <a:accent1>
        <a:srgbClr val="6F79E3"/>
      </a:accent1>
      <a:accent2>
        <a:srgbClr val="433ABA"/>
      </a:accent2>
      <a:accent3>
        <a:srgbClr val="130994"/>
      </a:accent3>
      <a:accent4>
        <a:srgbClr val="FFFFFF"/>
      </a:accent4>
      <a:accent5>
        <a:srgbClr val="FFFFFF"/>
      </a:accent5>
      <a:accent6>
        <a:srgbClr val="FFFFFF"/>
      </a:accent6>
      <a:hlink>
        <a:srgbClr val="1F16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1261</TotalTime>
  <Words>1212</Words>
  <Application>Microsoft Office PowerPoint</Application>
  <PresentationFormat>Peragaan Layar (16:9)</PresentationFormat>
  <Paragraphs>160</Paragraphs>
  <Slides>25</Slides>
  <Notes>25</Notes>
  <HiddenSlides>0</HiddenSlides>
  <MMClips>0</MMClips>
  <ScaleCrop>false</ScaleCrop>
  <HeadingPairs>
    <vt:vector size="6" baseType="variant">
      <vt:variant>
        <vt:lpstr>Font Dipakai</vt:lpstr>
      </vt:variant>
      <vt:variant>
        <vt:i4>5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25</vt:i4>
      </vt:variant>
    </vt:vector>
  </HeadingPairs>
  <TitlesOfParts>
    <vt:vector size="31" baseType="lpstr">
      <vt:lpstr>IBM Plex Mono</vt:lpstr>
      <vt:lpstr>Calibri</vt:lpstr>
      <vt:lpstr>Arial</vt:lpstr>
      <vt:lpstr>HGPSoeiKakugothicUB</vt:lpstr>
      <vt:lpstr>Archivo</vt:lpstr>
      <vt:lpstr>Bachelor in Robotics Engineering by Slidesgo</vt:lpstr>
      <vt:lpstr>Sistem Informasi Traceability Materials</vt:lpstr>
      <vt:lpstr>Dashboard  Consumed &amp; Produced</vt:lpstr>
      <vt:lpstr>01. Informasi Fitur </vt:lpstr>
      <vt:lpstr>02. Langkah-Langkah Penggunaan</vt:lpstr>
      <vt:lpstr>Dashboard  Production Data</vt:lpstr>
      <vt:lpstr>01. Informasi Fitur </vt:lpstr>
      <vt:lpstr>02. Langkah-Langkah Penggunaan</vt:lpstr>
      <vt:lpstr>Menu Materials</vt:lpstr>
      <vt:lpstr>01. Informasi Fitur </vt:lpstr>
      <vt:lpstr>02. Langkah-Langkah Penggunaan</vt:lpstr>
      <vt:lpstr>Traceability By Machine</vt:lpstr>
      <vt:lpstr>01. Informasi Fitur </vt:lpstr>
      <vt:lpstr>02. Langkah-Langkah Penggunaan</vt:lpstr>
      <vt:lpstr>Traceability  By Containment Unit (CU)</vt:lpstr>
      <vt:lpstr>01. Informasi Fitur </vt:lpstr>
      <vt:lpstr>02. Langkah – Langkah Penggunaan</vt:lpstr>
      <vt:lpstr>Traceability By Materials</vt:lpstr>
      <vt:lpstr>01. Informasi Fitur </vt:lpstr>
      <vt:lpstr>02. Langkah – Langkah Penggunaan</vt:lpstr>
      <vt:lpstr>Tracing Barcode</vt:lpstr>
      <vt:lpstr>01. Informasi Fitur </vt:lpstr>
      <vt:lpstr>02. Langkah – Langkah Penggunaan</vt:lpstr>
      <vt:lpstr>Tracing Barcode Year</vt:lpstr>
      <vt:lpstr>01. Informasi Fitur </vt:lpstr>
      <vt:lpstr>02. Langkah – Langkah Penggunaan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Erika Rachmawati</dc:creator>
  <cp:lastModifiedBy>Erika Rachmawati</cp:lastModifiedBy>
  <cp:revision>20</cp:revision>
  <dcterms:modified xsi:type="dcterms:W3CDTF">2026-01-15T02:23:54Z</dcterms:modified>
</cp:coreProperties>
</file>